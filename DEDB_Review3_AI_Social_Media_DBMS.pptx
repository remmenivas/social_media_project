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0" y="0"/>
            <a:ext cx="3227832" cy="6858000"/>
          </a:xfrm>
          <a:prstGeom prst="rect">
            <a:avLst/>
          </a:prstGeom>
          <a:solidFill>
            <a:srgbClr val="1A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961120" y="0"/>
            <a:ext cx="54864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0" y="457200"/>
            <a:ext cx="2286000" cy="45720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01200" y="1188720"/>
            <a:ext cx="1645920" cy="4572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01200" y="1920240"/>
            <a:ext cx="2011680" cy="4572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0" y="2651760"/>
            <a:ext cx="1371600" cy="45720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01200" y="3383280"/>
            <a:ext cx="1828800" cy="457200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01200" y="4114800"/>
            <a:ext cx="1463040" cy="45720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46920" y="50292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PostgreSQL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123444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Node.js / Express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46920" y="196596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Redis Cache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46920" y="269748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MinIO / S3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46920" y="342900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JWT + bcrypt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46920" y="416052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WebSocket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8961120" cy="3200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274320"/>
            <a:ext cx="3474720" cy="411480"/>
          </a:xfrm>
          <a:prstGeom prst="rect">
            <a:avLst/>
          </a:prstGeom>
          <a:solidFill>
            <a:srgbClr val="1A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30175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BFD8"/>
                </a:solidFill>
                <a:latin typeface="Calibri"/>
              </a:rPr>
              <a:t>Database Engineering &amp; Distributed Backend Development (DEDB)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804672"/>
            <a:ext cx="1645920" cy="34747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8229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PROJECT REVIEW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132588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AI-Ready Social Media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1874519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D54F"/>
                </a:solidFill>
                <a:latin typeface="Calibri"/>
              </a:rPr>
              <a:t>Database Management 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25786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  <a:latin typeface="Calibri"/>
              </a:rPr>
              <a:t>DEDB Project — Review 3  |  Academic Year 2026–2027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017520"/>
            <a:ext cx="4572000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3154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FD8"/>
                </a:solidFill>
                <a:latin typeface="Calibri"/>
              </a:rPr>
              <a:t>TEAM MEMBERS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493008"/>
            <a:ext cx="54864" cy="25603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349300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Remme Nivas  —  ID: 2510030125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895344"/>
            <a:ext cx="54864" cy="25603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3895344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G. Abhi Chandra  —  ID: 2510030328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297680"/>
            <a:ext cx="54864" cy="25603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429768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N. Jashwanth  —  ID: 2510030409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4700016"/>
            <a:ext cx="54864" cy="25603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470001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V. Karthik  —  ID: 2510030381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5212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FD8"/>
                </a:solidFill>
                <a:latin typeface="Calibri"/>
              </a:rPr>
              <a:t>SUPERVISOR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5504688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Dr. P. Lalitha Surya Kumari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BDEFB"/>
                </a:solidFill>
                <a:latin typeface="Calibri"/>
              </a:rPr>
              <a:t>AI-Ready Social Media DBMS  |  DEDB — Review 3  |  2026–2027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655624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BDEFB"/>
                </a:solidFill>
                <a:latin typeface="Calibri"/>
              </a:rPr>
              <a:t>Slide  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7315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Problem Statement &amp; Project 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  <a:latin typeface="Calibri"/>
              </a:rPr>
              <a:t>Why an AI-Ready, Normalised Social Media DBMS?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73152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D54F"/>
                </a:solidFill>
                <a:latin typeface="Calibri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556248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BDEFB"/>
                </a:solidFill>
                <a:latin typeface="Calibri"/>
              </a:rPr>
              <a:t>AI-Ready Social Media DBMS  |  DEDB Project — Review 3  |  2026–2027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55624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BBDEFB"/>
                </a:solidFill>
                <a:latin typeface="Calibri"/>
              </a:rPr>
              <a:t>Supervisor: Dr. P. Lalitha Surya Kumari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" y="1097280"/>
            <a:ext cx="3749039" cy="5120640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1168" y="1097280"/>
            <a:ext cx="3749039" cy="411480"/>
          </a:xfrm>
          <a:prstGeom prst="rect">
            <a:avLst/>
          </a:prstGeom>
          <a:solidFill>
            <a:srgbClr val="1A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" y="114300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⚠  THE CHALLENGE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1600200"/>
            <a:ext cx="64008" cy="5943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160020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36B"/>
                </a:solidFill>
                <a:latin typeface="Calibri"/>
              </a:rPr>
              <a:t>Massive Interconnected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1856232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24242"/>
                </a:solidFill>
                <a:latin typeface="Calibri"/>
              </a:rPr>
              <a:t>Billions of users, posts, comments,
likes, follows and messages.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" y="2377440"/>
            <a:ext cx="64008" cy="5943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237744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36B"/>
                </a:solidFill>
                <a:latin typeface="Calibri"/>
              </a:rPr>
              <a:t>Redundancy &amp; Anomalies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2633472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24242"/>
                </a:solidFill>
                <a:latin typeface="Calibri"/>
              </a:rPr>
              <a:t>Denormalised schemas cause update
and deletion anomalies.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" y="3154680"/>
            <a:ext cx="64008" cy="5943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315468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36B"/>
                </a:solidFill>
                <a:latin typeface="Calibri"/>
              </a:rPr>
              <a:t>Multimedia Bloat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3410712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24242"/>
                </a:solidFill>
                <a:latin typeface="Calibri"/>
              </a:rPr>
              <a:t>Storing media in the relational DB
degrades performance.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6032" y="3931919"/>
            <a:ext cx="64008" cy="5943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3931919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36B"/>
                </a:solidFill>
                <a:latin typeface="Calibri"/>
              </a:rPr>
              <a:t>Scalability Bottlenecks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" y="4187951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24242"/>
                </a:solidFill>
                <a:latin typeface="Calibri"/>
              </a:rPr>
              <a:t>Single-node reads cannot handle
peak social-media traffic.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6032" y="4709160"/>
            <a:ext cx="64008" cy="5943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470916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36B"/>
                </a:solidFill>
                <a:latin typeface="Calibri"/>
              </a:rPr>
              <a:t>Weak Security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" y="4965192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24242"/>
                </a:solidFill>
                <a:latin typeface="Calibri"/>
              </a:rPr>
              <a:t>Insufficient auth exposes user data
to breaches.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6032" y="5486400"/>
            <a:ext cx="64008" cy="5943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" y="548640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36B"/>
                </a:solidFill>
                <a:latin typeface="Calibri"/>
              </a:rPr>
              <a:t>No AI Readiness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" y="5742432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24242"/>
                </a:solidFill>
                <a:latin typeface="Calibri"/>
              </a:rPr>
              <a:t>Legacy systems block semantic
search and recommendations.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32004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E88E5"/>
                </a:solidFill>
                <a:latin typeface="Calibri"/>
              </a:rPr>
              <a:t>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92040" y="1097280"/>
            <a:ext cx="7040880" cy="5120640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92040" y="1097280"/>
            <a:ext cx="7040880" cy="411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83480" y="1143000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✅  OUR PROPOSED SOLUTION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56048" y="1618487"/>
            <a:ext cx="822960" cy="59436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83480" y="1773935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3NF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97880" y="1618487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36B"/>
                </a:solidFill>
                <a:latin typeface="Calibri"/>
              </a:rPr>
              <a:t>3NF Normalised Schema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97880" y="1892807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  <a:latin typeface="Calibri"/>
              </a:rPr>
              <a:t>14 relational tables removing all redundancy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56048" y="2395728"/>
            <a:ext cx="822960" cy="59436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83480" y="2551176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Hybrid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97880" y="2395728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36B"/>
                </a:solidFill>
                <a:latin typeface="Calibri"/>
              </a:rPr>
              <a:t>Hybrid Storage Architecture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97880" y="2670048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  <a:latin typeface="Calibri"/>
              </a:rPr>
              <a:t>PostgreSQL for relational data + MinIO/S3 for media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56048" y="3172968"/>
            <a:ext cx="822960" cy="5943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983480" y="3328416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Redis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97880" y="3172968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36B"/>
                </a:solidFill>
                <a:latin typeface="Calibri"/>
              </a:rPr>
              <a:t>Redis Caching Layer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97880" y="3447288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  <a:latin typeface="Calibri"/>
              </a:rPr>
              <a:t>In-memory cache for high-read social content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956048" y="3950207"/>
            <a:ext cx="822960" cy="594360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983480" y="4105655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JWT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97880" y="3950207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36B"/>
                </a:solidFill>
                <a:latin typeface="Calibri"/>
              </a:rPr>
              <a:t>JWT + bcrypt Security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97880" y="4224527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  <a:latin typeface="Calibri"/>
              </a:rPr>
              <a:t>Token-based auth with hashed password storage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56048" y="4727448"/>
            <a:ext cx="822960" cy="59436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983480" y="4882896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API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97880" y="4727448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36B"/>
                </a:solidFill>
                <a:latin typeface="Calibri"/>
              </a:rPr>
              <a:t>REST + WebSocket APIs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97880" y="5001768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  <a:latin typeface="Calibri"/>
              </a:rPr>
              <a:t>Dual-protocol for HTTP and real-time events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956048" y="5504688"/>
            <a:ext cx="822960" cy="59436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983480" y="5660136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897880" y="5504688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36B"/>
                </a:solidFill>
                <a:latin typeface="Calibri"/>
              </a:rPr>
              <a:t>AI-Ready Architecture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97880" y="5779008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  <a:latin typeface="Calibri"/>
              </a:rPr>
              <a:t>PgVector-ready for semantic search &amp;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7315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Proposed Methodology &amp; 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  <a:latin typeface="Calibri"/>
              </a:rPr>
              <a:t>Layered, Modular &amp; AI-Ready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73152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D54F"/>
                </a:solidFill>
                <a:latin typeface="Calibri"/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556248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BDEFB"/>
                </a:solidFill>
                <a:latin typeface="Calibri"/>
              </a:rPr>
              <a:t>AI-Ready Social Media DBMS  |  DEDB Project — Review 3  |  2026–2027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55624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BBDEFB"/>
                </a:solidFill>
                <a:latin typeface="Calibri"/>
              </a:rPr>
              <a:t>Supervisor: Dr. P. Lalitha Surya Kumari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" y="1143000"/>
            <a:ext cx="914400" cy="530352"/>
          </a:xfrm>
          <a:prstGeom prst="rect">
            <a:avLst/>
          </a:prstGeom>
          <a:solidFill>
            <a:srgbClr val="1A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" y="123444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00BFD8"/>
                </a:solidFill>
                <a:latin typeface="Calibri"/>
              </a:rPr>
              <a:t>CLIENT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" y="1965960"/>
            <a:ext cx="914400" cy="530352"/>
          </a:xfrm>
          <a:prstGeom prst="rect">
            <a:avLst/>
          </a:prstGeom>
          <a:solidFill>
            <a:srgbClr val="1A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" y="205740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00BFD8"/>
                </a:solidFill>
                <a:latin typeface="Calibri"/>
              </a:rPr>
              <a:t>SECURITY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" y="2788920"/>
            <a:ext cx="914400" cy="530352"/>
          </a:xfrm>
          <a:prstGeom prst="rect">
            <a:avLst/>
          </a:prstGeom>
          <a:solidFill>
            <a:srgbClr val="1A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" y="288036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00BFD8"/>
                </a:solidFill>
                <a:latin typeface="Calibri"/>
              </a:rPr>
              <a:t>LOAD BALANCER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" y="3611880"/>
            <a:ext cx="914400" cy="530352"/>
          </a:xfrm>
          <a:prstGeom prst="rect">
            <a:avLst/>
          </a:prstGeom>
          <a:solidFill>
            <a:srgbClr val="1A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" y="370332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00BFD8"/>
                </a:solidFill>
                <a:latin typeface="Calibri"/>
              </a:rPr>
              <a:t>APPLICATION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" y="4498848"/>
            <a:ext cx="914400" cy="530352"/>
          </a:xfrm>
          <a:prstGeom prst="rect">
            <a:avLst/>
          </a:prstGeom>
          <a:solidFill>
            <a:srgbClr val="1A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" y="459028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00BFD8"/>
                </a:solidFill>
                <a:latin typeface="Calibri"/>
              </a:rPr>
              <a:t>DATA LAYER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7280" y="1143000"/>
            <a:ext cx="9994392" cy="530352"/>
          </a:xfrm>
          <a:prstGeom prst="rect">
            <a:avLst/>
          </a:prstGeom>
          <a:solidFill>
            <a:srgbClr val="1A336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1179576"/>
            <a:ext cx="9902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👥  Client Applications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1463040"/>
            <a:ext cx="99029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BDBDBD"/>
                </a:solidFill>
                <a:latin typeface="Calibri"/>
              </a:rPr>
              <a:t>Web Browser  •  Mobile App  •  API Consumer  •  Third-Party Integrations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97280" y="1828800"/>
            <a:ext cx="4846320" cy="530352"/>
          </a:xfrm>
          <a:prstGeom prst="rect">
            <a:avLst/>
          </a:prstGeom>
          <a:solidFill>
            <a:srgbClr val="4A148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1865376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🔐  JWT Authentication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2148840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BBDEFB"/>
                </a:solidFill>
                <a:latin typeface="Calibri"/>
              </a:rPr>
              <a:t>Token Generation  •  Middleware Validation  •  Refresh Token Flow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45352" y="1828800"/>
            <a:ext cx="3017520" cy="530352"/>
          </a:xfrm>
          <a:prstGeom prst="rect">
            <a:avLst/>
          </a:prstGeom>
          <a:solidFill>
            <a:srgbClr val="4A148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1072" y="1865376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🔒  bcrypt Password Hashing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91072" y="2148840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BBDEFB"/>
                </a:solidFill>
                <a:latin typeface="Calibri"/>
              </a:rPr>
              <a:t>Salted Hash  •  Cost Factor  •  DB Storage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97280" y="2514600"/>
            <a:ext cx="9994392" cy="530352"/>
          </a:xfrm>
          <a:prstGeom prst="rect">
            <a:avLst/>
          </a:prstGeom>
          <a:solidFill>
            <a:srgbClr val="0066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2551176"/>
            <a:ext cx="9902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⚡  Nginx — Reverse Proxy &amp; Load Balancer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2834640"/>
            <a:ext cx="99029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F5F5F5"/>
                </a:solidFill>
                <a:latin typeface="Calibri"/>
              </a:rPr>
              <a:t>SSL Termination  •  Request Routing  •  Rate Limiting  •  Static Assets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97280" y="3200400"/>
            <a:ext cx="9994392" cy="530352"/>
          </a:xfrm>
          <a:prstGeom prst="rect">
            <a:avLst/>
          </a:prstGeom>
          <a:solidFill>
            <a:srgbClr val="0D683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3236976"/>
            <a:ext cx="9902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🟢  Node.js / Express — REST &amp; WebSocket API Layer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" y="3520440"/>
            <a:ext cx="99029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F5F5F5"/>
                </a:solidFill>
                <a:latin typeface="Calibri"/>
              </a:rPr>
              <a:t>RESTful Endpoints  •  WebSocket (Socket.io)  •  Business Logic  •  ORM / Query Builder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97280" y="3886200"/>
            <a:ext cx="2514600" cy="1188720"/>
          </a:xfrm>
          <a:prstGeom prst="rect">
            <a:avLst/>
          </a:prstGeom>
          <a:solidFill>
            <a:srgbClr val="B71C1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3000" y="3922776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⚡  Redis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4206240"/>
            <a:ext cx="2423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F5F5F5"/>
                </a:solidFill>
                <a:latin typeface="Calibri"/>
              </a:rPr>
              <a:t>In-Memory Caching
Session Store  •  Rate Limiting
Feed Cache  •  PubSub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18304" y="3886200"/>
            <a:ext cx="2514600" cy="1188720"/>
          </a:xfrm>
          <a:prstGeom prst="rect">
            <a:avLst/>
          </a:prstGeom>
          <a:solidFill>
            <a:srgbClr val="00337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64024" y="3922776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🐘  PostgreSQL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64024" y="4206240"/>
            <a:ext cx="2423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F5F5F5"/>
                </a:solidFill>
                <a:latin typeface="Calibri"/>
              </a:rPr>
              <a:t>3NF Relational Database
ACID Transactions  •  PK/FK Constraints
14 Core Tables  •  (PgVector-Ready)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48472" y="3886200"/>
            <a:ext cx="2514600" cy="1188720"/>
          </a:xfrm>
          <a:prstGeom prst="rect">
            <a:avLst/>
          </a:prstGeom>
          <a:solidFill>
            <a:srgbClr val="00598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94192" y="3922776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☁  MinIO / AWS S3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94192" y="4206240"/>
            <a:ext cx="2423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F5F5F5"/>
                </a:solidFill>
                <a:latin typeface="Calibri"/>
              </a:rPr>
              <a:t>Object Storage
Images  •  Videos  •  Stories
DB stores only references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112764" y="1673352"/>
            <a:ext cx="0" cy="155448"/>
          </a:xfrm>
          <a:prstGeom prst="line">
            <a:avLst/>
          </a:prstGeom>
          <a:ln w="25400">
            <a:solidFill>
              <a:srgbClr val="1E8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112764" y="2359152"/>
            <a:ext cx="0" cy="155448"/>
          </a:xfrm>
          <a:prstGeom prst="line">
            <a:avLst/>
          </a:prstGeom>
          <a:ln w="25400">
            <a:solidFill>
              <a:srgbClr val="1E8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112764" y="3044952"/>
            <a:ext cx="0" cy="155448"/>
          </a:xfrm>
          <a:prstGeom prst="line">
            <a:avLst/>
          </a:prstGeom>
          <a:ln w="25400">
            <a:solidFill>
              <a:srgbClr val="1E8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6112764" y="3730752"/>
            <a:ext cx="0" cy="155448"/>
          </a:xfrm>
          <a:prstGeom prst="line">
            <a:avLst/>
          </a:prstGeom>
          <a:ln w="25400">
            <a:solidFill>
              <a:srgbClr val="1E8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1097280" y="6108192"/>
            <a:ext cx="9994392" cy="347472"/>
          </a:xfrm>
          <a:prstGeom prst="rect">
            <a:avLst/>
          </a:prstGeom>
          <a:solidFill>
            <a:srgbClr val="1A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280160" y="6163056"/>
            <a:ext cx="182880" cy="18288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508760" y="6153912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REST / HTTP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0" y="6163056"/>
            <a:ext cx="182880" cy="1828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429000" y="6153912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WebSocket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120640" y="6163056"/>
            <a:ext cx="182880" cy="182880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349240" y="6153912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JWT Token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040880" y="6163056"/>
            <a:ext cx="182880" cy="18288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69480" y="6153912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ACID Transactions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961120" y="6163056"/>
            <a:ext cx="182880" cy="18288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189720" y="6153912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Object Reference URL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7315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Novelty of Developed 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  <a:latin typeface="Calibri"/>
              </a:rPr>
              <a:t>What makes this approach distinct? — Evaluation Component 1 (10 Marks)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73152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D54F"/>
                </a:solidFill>
                <a:latin typeface="Calibri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556248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BDEFB"/>
                </a:solidFill>
                <a:latin typeface="Calibri"/>
              </a:rPr>
              <a:t>AI-Ready Social Media DBMS  |  DEDB Project — Review 3  |  2026–2027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55624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BBDEFB"/>
                </a:solidFill>
                <a:latin typeface="Calibri"/>
              </a:rPr>
              <a:t>Supervisor: Dr. P. Lalitha Surya Kumari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" y="1115568"/>
            <a:ext cx="11795760" cy="43891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" y="118872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54F"/>
                </a:solidFill>
                <a:latin typeface="Calibri"/>
              </a:rPr>
              <a:t>Existing Approach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24328" y="118872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54F"/>
                </a:solidFill>
                <a:latin typeface="Calibri"/>
              </a:rPr>
              <a:t>Limitation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3208" y="118872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54F"/>
                </a:solidFill>
                <a:latin typeface="Calibri"/>
              </a:rPr>
              <a:t>Our Methodology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6488" y="118872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54F"/>
                </a:solidFill>
                <a:latin typeface="Calibri"/>
              </a:rPr>
              <a:t>Novel Contribution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1168" y="1572768"/>
            <a:ext cx="11795760" cy="914400"/>
          </a:xfrm>
          <a:prstGeom prst="rect">
            <a:avLst/>
          </a:prstGeom>
          <a:solidFill>
            <a:srgbClr val="E3F2FD"/>
          </a:solidFill>
          <a:ln w="508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78608" y="1572768"/>
            <a:ext cx="13716" cy="91440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47488" y="1572768"/>
            <a:ext cx="13716" cy="91440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30768" y="1572768"/>
            <a:ext cx="13716" cy="91440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1572768"/>
            <a:ext cx="73152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1645920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  <a:latin typeface="Calibri"/>
              </a:rPr>
              <a:t>📋  Denormalized schemas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1572768"/>
            <a:ext cx="73152" cy="914400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97480" y="1645920"/>
            <a:ext cx="2240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  <a:latin typeface="Calibri"/>
              </a:rPr>
              <a:t>Data redundancy &amp;
update anomalies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47488" y="1572768"/>
            <a:ext cx="73152" cy="9144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66360" y="1645920"/>
            <a:ext cx="3154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336B"/>
                </a:solidFill>
                <a:latin typeface="Calibri"/>
              </a:rPr>
              <a:t>3NF relational schema
(14 core social tables)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30768" y="1572768"/>
            <a:ext cx="73152" cy="91440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9640" y="1645920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5E20"/>
                </a:solidFill>
                <a:latin typeface="Calibri"/>
              </a:rPr>
              <a:t>Zero redundancy design;
PK/FK integrity enforced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1168" y="2505456"/>
            <a:ext cx="11795760" cy="914400"/>
          </a:xfrm>
          <a:prstGeom prst="rect">
            <a:avLst/>
          </a:prstGeom>
          <a:solidFill>
            <a:srgbClr val="FFFFFF"/>
          </a:solidFill>
          <a:ln w="508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578608" y="2505456"/>
            <a:ext cx="13716" cy="91440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47488" y="2505456"/>
            <a:ext cx="13716" cy="91440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30768" y="2505456"/>
            <a:ext cx="13716" cy="91440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01168" y="2505456"/>
            <a:ext cx="73152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2578608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  <a:latin typeface="Calibri"/>
              </a:rPr>
              <a:t>🗄️  Media stored in DB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2505456"/>
            <a:ext cx="73152" cy="914400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97480" y="2578608"/>
            <a:ext cx="2240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  <a:latin typeface="Calibri"/>
              </a:rPr>
              <a:t>Storage bloat;
performance degradation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47488" y="2505456"/>
            <a:ext cx="73152" cy="9144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66360" y="2578608"/>
            <a:ext cx="3154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336B"/>
                </a:solidFill>
                <a:latin typeface="Calibri"/>
              </a:rPr>
              <a:t>MinIO/S3 object storage;
DB holds reference URL only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30768" y="2505456"/>
            <a:ext cx="73152" cy="91440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49640" y="2578608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5E20"/>
                </a:solidFill>
                <a:latin typeface="Calibri"/>
              </a:rPr>
              <a:t>Decoupled media from
relational data model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01168" y="3438144"/>
            <a:ext cx="11795760" cy="914400"/>
          </a:xfrm>
          <a:prstGeom prst="rect">
            <a:avLst/>
          </a:prstGeom>
          <a:solidFill>
            <a:srgbClr val="E3F2FD"/>
          </a:solidFill>
          <a:ln w="508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578608" y="3438144"/>
            <a:ext cx="13716" cy="91440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47488" y="3438144"/>
            <a:ext cx="13716" cy="91440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430768" y="3438144"/>
            <a:ext cx="13716" cy="91440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01168" y="3438144"/>
            <a:ext cx="73152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0040" y="3511296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  <a:latin typeface="Calibri"/>
              </a:rPr>
              <a:t>🔄  Single-node reads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578608" y="3438144"/>
            <a:ext cx="73152" cy="914400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697480" y="3511296"/>
            <a:ext cx="2240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  <a:latin typeface="Calibri"/>
              </a:rPr>
              <a:t>Scalability bottleneck
at peak traffic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47488" y="3438144"/>
            <a:ext cx="73152" cy="9144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66360" y="3511296"/>
            <a:ext cx="3154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336B"/>
                </a:solidFill>
                <a:latin typeface="Calibri"/>
              </a:rPr>
              <a:t>Redis in-memory cache
+ planned read replicas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430768" y="3438144"/>
            <a:ext cx="73152" cy="91440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49640" y="3511296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5E20"/>
                </a:solidFill>
                <a:latin typeface="Calibri"/>
              </a:rPr>
              <a:t>Layered read performance
without DB overload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01168" y="4370832"/>
            <a:ext cx="11795760" cy="914400"/>
          </a:xfrm>
          <a:prstGeom prst="rect">
            <a:avLst/>
          </a:prstGeom>
          <a:solidFill>
            <a:srgbClr val="FFFFFF"/>
          </a:solidFill>
          <a:ln w="508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578608" y="4370832"/>
            <a:ext cx="13716" cy="91440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047488" y="4370832"/>
            <a:ext cx="13716" cy="91440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430768" y="4370832"/>
            <a:ext cx="13716" cy="91440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01168" y="4370832"/>
            <a:ext cx="73152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0040" y="44439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  <a:latin typeface="Calibri"/>
              </a:rPr>
              <a:t>🔐  Basic password auth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578608" y="4370832"/>
            <a:ext cx="73152" cy="914400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697480" y="4443984"/>
            <a:ext cx="2240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  <a:latin typeface="Calibri"/>
              </a:rPr>
              <a:t>Credential exposure
&amp; replay attacks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47488" y="4370832"/>
            <a:ext cx="73152" cy="9144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166360" y="4443984"/>
            <a:ext cx="3154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336B"/>
                </a:solidFill>
                <a:latin typeface="Calibri"/>
              </a:rPr>
              <a:t>JWT + bcrypt + DB-level
access constraints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430768" y="4370832"/>
            <a:ext cx="73152" cy="91440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549640" y="4443984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5E20"/>
                </a:solidFill>
                <a:latin typeface="Calibri"/>
              </a:rPr>
              <a:t>Stateless, secure,
multi-layer auth design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01168" y="5303520"/>
            <a:ext cx="11795760" cy="914400"/>
          </a:xfrm>
          <a:prstGeom prst="rect">
            <a:avLst/>
          </a:prstGeom>
          <a:solidFill>
            <a:srgbClr val="E3F2FD"/>
          </a:solidFill>
          <a:ln w="508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578608" y="5303520"/>
            <a:ext cx="13716" cy="91440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047488" y="5303520"/>
            <a:ext cx="13716" cy="91440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430768" y="5303520"/>
            <a:ext cx="13716" cy="91440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01168" y="5303520"/>
            <a:ext cx="73152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0040" y="5376672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  <a:latin typeface="Calibri"/>
              </a:rPr>
              <a:t>🔮  Keyword search only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578608" y="5303520"/>
            <a:ext cx="73152" cy="914400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697480" y="5376672"/>
            <a:ext cx="2240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  <a:latin typeface="Calibri"/>
              </a:rPr>
              <a:t>No semantic discovery
or personalisation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047488" y="5303520"/>
            <a:ext cx="73152" cy="9144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166360" y="5376672"/>
            <a:ext cx="3154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336B"/>
                </a:solidFill>
                <a:latin typeface="Calibri"/>
              </a:rPr>
              <a:t>Architecture is PgVector-ready
for vector embeddings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430768" y="5303520"/>
            <a:ext cx="73152" cy="91440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549640" y="5376672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5E20"/>
                </a:solidFill>
                <a:latin typeface="Calibri"/>
              </a:rPr>
              <a:t>AI readiness built into
DB schema from day-one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01168" y="6336792"/>
            <a:ext cx="11795760" cy="164592"/>
          </a:xfrm>
          <a:prstGeom prst="rect">
            <a:avLst/>
          </a:prstGeom>
          <a:solidFill>
            <a:srgbClr val="1A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74320" y="6345936"/>
            <a:ext cx="11430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D54F"/>
                </a:solidFill>
                <a:latin typeface="Calibri"/>
              </a:rPr>
              <a:t>★  AI recommendation features are planned future work — not yet implemented.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7315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Adaptability of 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  <a:latin typeface="Calibri"/>
              </a:rPr>
              <a:t>Modular design allows independent scaling at each layer — Evaluation Component 2 (10 Marks)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73152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D54F"/>
                </a:solidFill>
                <a:latin typeface="Calibri"/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556248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BDEFB"/>
                </a:solidFill>
                <a:latin typeface="Calibri"/>
              </a:rPr>
              <a:t>AI-Ready Social Media DBMS  |  DEDB Project — Review 3  |  2026–2027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55624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BBDEFB"/>
                </a:solidFill>
                <a:latin typeface="Calibri"/>
              </a:rPr>
              <a:t>Supervisor: Dr. P. Lalitha Surya Kumari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" y="1115568"/>
            <a:ext cx="1481328" cy="32004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" y="1152144"/>
            <a:ext cx="1481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CURRENT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1435608"/>
            <a:ext cx="1481328" cy="594360"/>
          </a:xfrm>
          <a:prstGeom prst="rect">
            <a:avLst/>
          </a:prstGeom>
          <a:solidFill>
            <a:srgbClr val="1A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" y="1463040"/>
            <a:ext cx="14813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
Base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" y="2029968"/>
            <a:ext cx="1481328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33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" y="2103120"/>
            <a:ext cx="1371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</a:pPr>
            <a:r>
              <a:rPr sz="900" b="1">
                <a:solidFill>
                  <a:srgbClr val="1A336B"/>
                </a:solidFill>
                <a:latin typeface="Calibri"/>
              </a:rPr>
              <a:t>PostgreSQL</a:t>
            </a:r>
          </a:p>
          <a:p>
            <a:pPr algn="ctr">
              <a:spcBef>
                <a:spcPts val="300"/>
              </a:spcBef>
            </a:pPr>
            <a:r>
              <a:rPr sz="900" b="0">
                <a:solidFill>
                  <a:srgbClr val="424242"/>
                </a:solidFill>
                <a:latin typeface="Calibri"/>
              </a:rPr>
              <a:t>Node.js / Express</a:t>
            </a:r>
          </a:p>
          <a:p>
            <a:pPr algn="ctr">
              <a:spcBef>
                <a:spcPts val="300"/>
              </a:spcBef>
            </a:pPr>
            <a:r>
              <a:rPr sz="900" b="0">
                <a:solidFill>
                  <a:srgbClr val="424242"/>
                </a:solidFill>
                <a:latin typeface="Calibri"/>
              </a:rPr>
              <a:t>JWT + bcrypt</a:t>
            </a:r>
          </a:p>
          <a:p>
            <a:pPr algn="ctr">
              <a:spcBef>
                <a:spcPts val="300"/>
              </a:spcBef>
            </a:pPr>
            <a:r>
              <a:rPr sz="900" b="0">
                <a:solidFill>
                  <a:srgbClr val="424242"/>
                </a:solidFill>
                <a:latin typeface="Calibri"/>
              </a:rPr>
              <a:t>REST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2532888"/>
            <a:ext cx="73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88E5"/>
                </a:solidFill>
                <a:latin typeface="Calibri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55648" y="1115568"/>
            <a:ext cx="1481328" cy="32004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55648" y="1152144"/>
            <a:ext cx="1481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CURRENT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55648" y="1435608"/>
            <a:ext cx="1481328" cy="5943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55648" y="1463040"/>
            <a:ext cx="14813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
Users↑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55648" y="2029968"/>
            <a:ext cx="1481328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10512" y="2103120"/>
            <a:ext cx="1371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</a:pPr>
            <a:r>
              <a:rPr sz="900" b="1">
                <a:solidFill>
                  <a:srgbClr val="1A336B"/>
                </a:solidFill>
                <a:latin typeface="Calibri"/>
              </a:rPr>
              <a:t>Redis Cache</a:t>
            </a:r>
          </a:p>
          <a:p>
            <a:pPr algn="ctr">
              <a:spcBef>
                <a:spcPts val="300"/>
              </a:spcBef>
            </a:pPr>
            <a:r>
              <a:rPr sz="900" b="0">
                <a:solidFill>
                  <a:srgbClr val="424242"/>
                </a:solidFill>
                <a:latin typeface="Calibri"/>
              </a:rPr>
              <a:t>Session Store</a:t>
            </a:r>
          </a:p>
          <a:p>
            <a:pPr algn="ctr">
              <a:spcBef>
                <a:spcPts val="300"/>
              </a:spcBef>
            </a:pPr>
            <a:r>
              <a:rPr sz="900" b="0">
                <a:solidFill>
                  <a:srgbClr val="424242"/>
                </a:solidFill>
                <a:latin typeface="Calibri"/>
              </a:rPr>
              <a:t>Feed Cache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2532888"/>
            <a:ext cx="73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88E5"/>
                </a:solidFill>
                <a:latin typeface="Calibri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10128" y="1115568"/>
            <a:ext cx="1481328" cy="320040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10128" y="1152144"/>
            <a:ext cx="1481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PLANNED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10128" y="1435608"/>
            <a:ext cx="1481328" cy="59436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10128" y="1463040"/>
            <a:ext cx="14813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
Reads↑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10128" y="2029968"/>
            <a:ext cx="1481328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64992" y="2103120"/>
            <a:ext cx="1371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</a:pPr>
            <a:r>
              <a:rPr sz="900" b="1">
                <a:solidFill>
                  <a:srgbClr val="1A336B"/>
                </a:solidFill>
                <a:latin typeface="Calibri"/>
              </a:rPr>
              <a:t>Read Replicas</a:t>
            </a:r>
          </a:p>
          <a:p>
            <a:pPr algn="ctr">
              <a:spcBef>
                <a:spcPts val="300"/>
              </a:spcBef>
            </a:pPr>
            <a:r>
              <a:rPr sz="900" b="0">
                <a:solidFill>
                  <a:srgbClr val="424242"/>
                </a:solidFill>
                <a:latin typeface="Calibri"/>
              </a:rPr>
              <a:t>(PostgreSQL)</a:t>
            </a:r>
          </a:p>
          <a:p>
            <a:pPr algn="ctr">
              <a:spcBef>
                <a:spcPts val="300"/>
              </a:spcBef>
            </a:pPr>
            <a:r>
              <a:rPr sz="900" b="0">
                <a:solidFill>
                  <a:srgbClr val="424242"/>
                </a:solidFill>
                <a:latin typeface="Calibri"/>
              </a:rPr>
              <a:t>Connection Pool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2532888"/>
            <a:ext cx="73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88E5"/>
                </a:solidFill>
                <a:latin typeface="Calibri"/>
              </a:rPr>
              <a:t>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64608" y="1115568"/>
            <a:ext cx="1481328" cy="320040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64608" y="1152144"/>
            <a:ext cx="1481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PLANNED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64608" y="1435608"/>
            <a:ext cx="1481328" cy="59436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64608" y="1463040"/>
            <a:ext cx="14813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
Media↑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64608" y="2029968"/>
            <a:ext cx="1481328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19472" y="2103120"/>
            <a:ext cx="1371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</a:pPr>
            <a:r>
              <a:rPr sz="900" b="1">
                <a:solidFill>
                  <a:srgbClr val="1A336B"/>
                </a:solidFill>
                <a:latin typeface="Calibri"/>
              </a:rPr>
              <a:t>MinIO / S3</a:t>
            </a:r>
          </a:p>
          <a:p>
            <a:pPr algn="ctr">
              <a:spcBef>
                <a:spcPts val="300"/>
              </a:spcBef>
            </a:pPr>
            <a:r>
              <a:rPr sz="900" b="0">
                <a:solidFill>
                  <a:srgbClr val="424242"/>
                </a:solidFill>
                <a:latin typeface="Calibri"/>
              </a:rPr>
              <a:t>CDN Integration</a:t>
            </a:r>
          </a:p>
          <a:p>
            <a:pPr algn="ctr">
              <a:spcBef>
                <a:spcPts val="300"/>
              </a:spcBef>
            </a:pPr>
            <a:r>
              <a:rPr sz="900" b="0">
                <a:solidFill>
                  <a:srgbClr val="424242"/>
                </a:solidFill>
                <a:latin typeface="Calibri"/>
              </a:rPr>
              <a:t>URL References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2532888"/>
            <a:ext cx="73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88E5"/>
                </a:solidFill>
                <a:latin typeface="Calibri"/>
              </a:rPr>
              <a:t>▶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19088" y="1115568"/>
            <a:ext cx="1481328" cy="320040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19088" y="1152144"/>
            <a:ext cx="1481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PLANNED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19088" y="1435608"/>
            <a:ext cx="1481328" cy="594360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19088" y="1463040"/>
            <a:ext cx="14813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5
Real-Time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19088" y="2029968"/>
            <a:ext cx="1481328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73952" y="2103120"/>
            <a:ext cx="1371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</a:pPr>
            <a:r>
              <a:rPr sz="900" b="1">
                <a:solidFill>
                  <a:srgbClr val="1A336B"/>
                </a:solidFill>
                <a:latin typeface="Calibri"/>
              </a:rPr>
              <a:t>Apache Kafka</a:t>
            </a:r>
          </a:p>
          <a:p>
            <a:pPr algn="ctr">
              <a:spcBef>
                <a:spcPts val="300"/>
              </a:spcBef>
            </a:pPr>
            <a:r>
              <a:rPr sz="900" b="0">
                <a:solidFill>
                  <a:srgbClr val="424242"/>
                </a:solidFill>
                <a:latin typeface="Calibri"/>
              </a:rPr>
              <a:t>WebSocket</a:t>
            </a:r>
          </a:p>
          <a:p>
            <a:pPr algn="ctr">
              <a:spcBef>
                <a:spcPts val="300"/>
              </a:spcBef>
            </a:pPr>
            <a:r>
              <a:rPr sz="900" b="0">
                <a:solidFill>
                  <a:srgbClr val="424242"/>
                </a:solidFill>
                <a:latin typeface="Calibri"/>
              </a:rPr>
              <a:t>Event Streaming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09560" y="2532888"/>
            <a:ext cx="73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88E5"/>
                </a:solidFill>
                <a:latin typeface="Calibri"/>
              </a:rPr>
              <a:t>▶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73568" y="1115568"/>
            <a:ext cx="1481328" cy="32004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73568" y="1152144"/>
            <a:ext cx="1481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FUTURE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73568" y="1435608"/>
            <a:ext cx="1481328" cy="59436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73568" y="1463040"/>
            <a:ext cx="14813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6
Semantic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73568" y="2029968"/>
            <a:ext cx="1481328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28432" y="2103120"/>
            <a:ext cx="1371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</a:pPr>
            <a:r>
              <a:rPr sz="900" b="1">
                <a:solidFill>
                  <a:srgbClr val="1A336B"/>
                </a:solidFill>
                <a:latin typeface="Calibri"/>
              </a:rPr>
              <a:t>PgVector</a:t>
            </a:r>
          </a:p>
          <a:p>
            <a:pPr algn="ctr">
              <a:spcBef>
                <a:spcPts val="300"/>
              </a:spcBef>
            </a:pPr>
            <a:r>
              <a:rPr sz="900" b="0">
                <a:solidFill>
                  <a:srgbClr val="424242"/>
                </a:solidFill>
                <a:latin typeface="Calibri"/>
              </a:rPr>
              <a:t>Embedding Models</a:t>
            </a:r>
          </a:p>
          <a:p>
            <a:pPr algn="ctr">
              <a:spcBef>
                <a:spcPts val="300"/>
              </a:spcBef>
            </a:pPr>
            <a:r>
              <a:rPr sz="900" b="0">
                <a:solidFill>
                  <a:srgbClr val="424242"/>
                </a:solidFill>
                <a:latin typeface="Calibri"/>
              </a:rPr>
              <a:t>Similarity Search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64040" y="2532888"/>
            <a:ext cx="73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88E5"/>
                </a:solidFill>
                <a:latin typeface="Calibri"/>
              </a:rPr>
              <a:t>▶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528048" y="1115568"/>
            <a:ext cx="1481328" cy="32004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528048" y="1152144"/>
            <a:ext cx="1481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FUTURE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528048" y="1435608"/>
            <a:ext cx="1481328" cy="59436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28048" y="1463040"/>
            <a:ext cx="14813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7
Graph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528048" y="2029968"/>
            <a:ext cx="1481328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E64A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582912" y="2103120"/>
            <a:ext cx="1371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</a:pPr>
            <a:r>
              <a:rPr sz="900" b="1">
                <a:solidFill>
                  <a:srgbClr val="1A336B"/>
                </a:solidFill>
                <a:latin typeface="Calibri"/>
              </a:rPr>
              <a:t>Neo4j / Hybrid</a:t>
            </a:r>
          </a:p>
          <a:p>
            <a:pPr algn="ctr">
              <a:spcBef>
                <a:spcPts val="300"/>
              </a:spcBef>
            </a:pPr>
            <a:r>
              <a:rPr sz="900" b="0">
                <a:solidFill>
                  <a:srgbClr val="424242"/>
                </a:solidFill>
                <a:latin typeface="Calibri"/>
              </a:rPr>
              <a:t>Graph Relationships</a:t>
            </a:r>
          </a:p>
          <a:p>
            <a:pPr algn="ctr">
              <a:spcBef>
                <a:spcPts val="300"/>
              </a:spcBef>
            </a:pPr>
            <a:r>
              <a:rPr sz="900" b="0">
                <a:solidFill>
                  <a:srgbClr val="424242"/>
                </a:solidFill>
                <a:latin typeface="Calibri"/>
              </a:rPr>
              <a:t>Social AI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01168" y="5394960"/>
            <a:ext cx="11795760" cy="384048"/>
          </a:xfrm>
          <a:prstGeom prst="rect">
            <a:avLst/>
          </a:prstGeom>
          <a:solidFill>
            <a:srgbClr val="1A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65760" y="5477256"/>
            <a:ext cx="201168" cy="201168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1792" y="545896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CURRENT — Already Designed &amp; In Implementation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297680" y="5477256"/>
            <a:ext cx="201168" cy="201168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53712" y="545896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PLANNED — Architectural Decision Made, Not Yet Built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229600" y="5477256"/>
            <a:ext cx="201168" cy="201168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485632" y="545896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FUTURE — Roadmap Item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01168" y="5870448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1">
                <a:solidFill>
                  <a:srgbClr val="1E88E5"/>
                </a:solidFill>
                <a:latin typeface="Calibri"/>
              </a:rPr>
              <a:t>✅  Modular architecture: each component can be independently scaled, replaced, or extended without redesigning the entire system.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7315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Methodology Evaluation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  <a:latin typeface="Calibri"/>
              </a:rPr>
              <a:t>Structured criteria for assessing system quality — Evaluation Component 3 (10 Marks)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73152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D54F"/>
                </a:solidFill>
                <a:latin typeface="Calibri"/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556248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BDEFB"/>
                </a:solidFill>
                <a:latin typeface="Calibri"/>
              </a:rPr>
              <a:t>AI-Ready Social Media DBMS  |  DEDB Project — Review 3  |  2026–2027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55624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BBDEFB"/>
                </a:solidFill>
                <a:latin typeface="Calibri"/>
              </a:rPr>
              <a:t>Supervisor: Dr. P. Lalitha Surya Kumari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" y="1115568"/>
            <a:ext cx="11795760" cy="43891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" y="118872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D54F"/>
                </a:solidFill>
                <a:latin typeface="Calibri"/>
              </a:rPr>
              <a:t>Parameter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75688" y="118872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D54F"/>
                </a:solidFill>
                <a:latin typeface="Calibri"/>
              </a:rPr>
              <a:t>Evaluation Method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18888" y="118872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D54F"/>
                </a:solidFill>
                <a:latin typeface="Calibri"/>
              </a:rPr>
              <a:t>Expected Outcome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36408" y="1188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D54F"/>
                </a:solidFill>
                <a:latin typeface="Calibri"/>
              </a:rPr>
              <a:t>Tools / Standard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39528" y="1188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D54F"/>
                </a:solidFill>
                <a:latin typeface="Calibri"/>
              </a:rPr>
              <a:t>Status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" y="1554480"/>
            <a:ext cx="11795760" cy="557784"/>
          </a:xfrm>
          <a:prstGeom prst="rect">
            <a:avLst/>
          </a:prstGeom>
          <a:solidFill>
            <a:srgbClr val="F5F5F5"/>
          </a:solidFill>
          <a:ln w="381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029968" y="1554480"/>
            <a:ext cx="9144" cy="557784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73168" y="1554480"/>
            <a:ext cx="9144" cy="557784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90688" y="1554480"/>
            <a:ext cx="9144" cy="557784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893808" y="1554480"/>
            <a:ext cx="9144" cy="557784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166420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336B"/>
                </a:solidFill>
                <a:latin typeface="Calibri"/>
              </a:rPr>
              <a:t>Data Integrity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75688" y="1627632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24242"/>
                </a:solidFill>
                <a:latin typeface="Calibri"/>
              </a:rPr>
              <a:t>PK, FK &amp; constraint testing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18888" y="1627632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24242"/>
                </a:solidFill>
                <a:latin typeface="Calibri"/>
              </a:rPr>
              <a:t>Zero orphan records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36408" y="1627632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24242"/>
                </a:solidFill>
                <a:latin typeface="Calibri"/>
              </a:rPr>
              <a:t>PostgreSQL constraints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30968" y="1691640"/>
            <a:ext cx="1554480" cy="256032"/>
          </a:xfrm>
          <a:prstGeom prst="rect">
            <a:avLst/>
          </a:prstGeom>
          <a:solidFill>
            <a:srgbClr val="FFF3E0"/>
          </a:solidFill>
          <a:ln w="1016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30968" y="1709928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8F00"/>
                </a:solidFill>
                <a:latin typeface="Calibri"/>
              </a:rPr>
              <a:t>PLANNED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1168" y="2112264"/>
            <a:ext cx="11795760" cy="557784"/>
          </a:xfrm>
          <a:prstGeom prst="rect">
            <a:avLst/>
          </a:prstGeom>
          <a:solidFill>
            <a:srgbClr val="FFFFFF"/>
          </a:solidFill>
          <a:ln w="381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029968" y="2112264"/>
            <a:ext cx="9144" cy="557784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773168" y="2112264"/>
            <a:ext cx="9144" cy="557784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90688" y="2112264"/>
            <a:ext cx="9144" cy="557784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893808" y="2112264"/>
            <a:ext cx="9144" cy="557784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222199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336B"/>
                </a:solidFill>
                <a:latin typeface="Calibri"/>
              </a:rPr>
              <a:t>Normalization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75688" y="2185416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24242"/>
                </a:solidFill>
                <a:latin typeface="Calibri"/>
              </a:rPr>
              <a:t>Verify 1NF → 2NF → 3NF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18888" y="2185416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24242"/>
                </a:solidFill>
                <a:latin typeface="Calibri"/>
              </a:rPr>
              <a:t>No partial/transitive deps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36408" y="2185416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24242"/>
                </a:solidFill>
                <a:latin typeface="Calibri"/>
              </a:rPr>
              <a:t>Manual review + FD tools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30968" y="2249424"/>
            <a:ext cx="1554480" cy="256032"/>
          </a:xfrm>
          <a:prstGeom prst="rect">
            <a:avLst/>
          </a:prstGeom>
          <a:solidFill>
            <a:srgbClr val="E8F5E9"/>
          </a:solidFill>
          <a:ln w="1016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30968" y="2267712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43A047"/>
                </a:solidFill>
                <a:latin typeface="Calibri"/>
              </a:rPr>
              <a:t>DESIGNED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2670048"/>
            <a:ext cx="11795760" cy="557784"/>
          </a:xfrm>
          <a:prstGeom prst="rect">
            <a:avLst/>
          </a:prstGeom>
          <a:solidFill>
            <a:srgbClr val="F5F5F5"/>
          </a:solidFill>
          <a:ln w="381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29968" y="2670048"/>
            <a:ext cx="9144" cy="557784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773168" y="2670048"/>
            <a:ext cx="9144" cy="557784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90688" y="2670048"/>
            <a:ext cx="9144" cy="557784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893808" y="2670048"/>
            <a:ext cx="9144" cy="557784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" y="277977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336B"/>
                </a:solidFill>
                <a:latin typeface="Calibri"/>
              </a:rPr>
              <a:t>Query Performance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75688" y="2743200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24242"/>
                </a:solidFill>
                <a:latin typeface="Calibri"/>
              </a:rPr>
              <a:t>SQL execution-time profiling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18888" y="2743200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24242"/>
                </a:solidFill>
                <a:latin typeface="Calibri"/>
              </a:rPr>
              <a:t>Optimised query plans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36408" y="2743200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24242"/>
                </a:solidFill>
                <a:latin typeface="Calibri"/>
              </a:rPr>
              <a:t>EXPLAIN ANALYSE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030968" y="2807208"/>
            <a:ext cx="1554480" cy="256032"/>
          </a:xfrm>
          <a:prstGeom prst="rect">
            <a:avLst/>
          </a:prstGeom>
          <a:solidFill>
            <a:srgbClr val="FFF3E0"/>
          </a:solidFill>
          <a:ln w="1016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030968" y="2825496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8F00"/>
                </a:solidFill>
                <a:latin typeface="Calibri"/>
              </a:rPr>
              <a:t>PLANNED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01168" y="3227832"/>
            <a:ext cx="11795760" cy="557784"/>
          </a:xfrm>
          <a:prstGeom prst="rect">
            <a:avLst/>
          </a:prstGeom>
          <a:solidFill>
            <a:srgbClr val="FFFFFF"/>
          </a:solidFill>
          <a:ln w="381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029968" y="3227832"/>
            <a:ext cx="9144" cy="557784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773168" y="3227832"/>
            <a:ext cx="9144" cy="557784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790688" y="3227832"/>
            <a:ext cx="9144" cy="557784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893808" y="3227832"/>
            <a:ext cx="9144" cy="557784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4320" y="333756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336B"/>
                </a:solidFill>
                <a:latin typeface="Calibri"/>
              </a:rPr>
              <a:t>Cache Efficiency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75688" y="3300984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24242"/>
                </a:solidFill>
                <a:latin typeface="Calibri"/>
              </a:rPr>
              <a:t>Redis hit/miss ratio testing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18888" y="3300984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24242"/>
                </a:solidFill>
                <a:latin typeface="Calibri"/>
              </a:rPr>
              <a:t>&gt; 80% hit rate (target)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36408" y="3300984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24242"/>
                </a:solidFill>
                <a:latin typeface="Calibri"/>
              </a:rPr>
              <a:t>Redis INFO stats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030968" y="3364992"/>
            <a:ext cx="1554480" cy="256032"/>
          </a:xfrm>
          <a:prstGeom prst="rect">
            <a:avLst/>
          </a:prstGeom>
          <a:solidFill>
            <a:srgbClr val="FFF3E0"/>
          </a:solidFill>
          <a:ln w="1016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030968" y="3383280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8F00"/>
                </a:solidFill>
                <a:latin typeface="Calibri"/>
              </a:rPr>
              <a:t>PLANNED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01168" y="3785616"/>
            <a:ext cx="11795760" cy="557784"/>
          </a:xfrm>
          <a:prstGeom prst="rect">
            <a:avLst/>
          </a:prstGeom>
          <a:solidFill>
            <a:srgbClr val="F5F5F5"/>
          </a:solidFill>
          <a:ln w="381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029968" y="3785616"/>
            <a:ext cx="9144" cy="557784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773168" y="3785616"/>
            <a:ext cx="9144" cy="557784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790688" y="3785616"/>
            <a:ext cx="9144" cy="557784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893808" y="3785616"/>
            <a:ext cx="9144" cy="557784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74320" y="3895344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336B"/>
                </a:solidFill>
                <a:latin typeface="Calibri"/>
              </a:rPr>
              <a:t>Security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75688" y="3858768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24242"/>
                </a:solidFill>
                <a:latin typeface="Calibri"/>
              </a:rPr>
              <a:t>Auth &amp; access control testing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818888" y="3858768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24242"/>
                </a:solidFill>
                <a:latin typeface="Calibri"/>
              </a:rPr>
              <a:t>No unauthorised access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836408" y="3858768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24242"/>
                </a:solidFill>
                <a:latin typeface="Calibri"/>
              </a:rPr>
              <a:t>JWT validation tests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030968" y="3922776"/>
            <a:ext cx="1554480" cy="256032"/>
          </a:xfrm>
          <a:prstGeom prst="rect">
            <a:avLst/>
          </a:prstGeom>
          <a:solidFill>
            <a:srgbClr val="FFF3E0"/>
          </a:solidFill>
          <a:ln w="1016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030968" y="3941064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8F00"/>
                </a:solidFill>
                <a:latin typeface="Calibri"/>
              </a:rPr>
              <a:t>PLANNED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01168" y="4343400"/>
            <a:ext cx="11795760" cy="557784"/>
          </a:xfrm>
          <a:prstGeom prst="rect">
            <a:avLst/>
          </a:prstGeom>
          <a:solidFill>
            <a:srgbClr val="FFFFFF"/>
          </a:solidFill>
          <a:ln w="381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2029968" y="4343400"/>
            <a:ext cx="9144" cy="557784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773168" y="4343400"/>
            <a:ext cx="9144" cy="557784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0688" y="4343400"/>
            <a:ext cx="9144" cy="557784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893808" y="4343400"/>
            <a:ext cx="9144" cy="557784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74320" y="445312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336B"/>
                </a:solidFill>
                <a:latin typeface="Calibri"/>
              </a:rPr>
              <a:t>Scalability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075688" y="4416552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24242"/>
                </a:solidFill>
                <a:latin typeface="Calibri"/>
              </a:rPr>
              <a:t>Concurrent load simulation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818888" y="4416552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24242"/>
                </a:solidFill>
                <a:latin typeface="Calibri"/>
              </a:rPr>
              <a:t>Stable under load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36408" y="4416552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24242"/>
                </a:solidFill>
                <a:latin typeface="Calibri"/>
              </a:rPr>
              <a:t>Apache JMeter / k6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030968" y="4480560"/>
            <a:ext cx="1554480" cy="256032"/>
          </a:xfrm>
          <a:prstGeom prst="rect">
            <a:avLst/>
          </a:prstGeom>
          <a:solidFill>
            <a:srgbClr val="FFF3E0"/>
          </a:solidFill>
          <a:ln w="1016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030968" y="4498848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8F00"/>
                </a:solidFill>
                <a:latin typeface="Calibri"/>
              </a:rPr>
              <a:t>PLANNED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01168" y="4901184"/>
            <a:ext cx="11795760" cy="557784"/>
          </a:xfrm>
          <a:prstGeom prst="rect">
            <a:avLst/>
          </a:prstGeom>
          <a:solidFill>
            <a:srgbClr val="F5F5F5"/>
          </a:solidFill>
          <a:ln w="381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2029968" y="4901184"/>
            <a:ext cx="9144" cy="557784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4773168" y="4901184"/>
            <a:ext cx="9144" cy="557784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790688" y="4901184"/>
            <a:ext cx="9144" cy="557784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893808" y="4901184"/>
            <a:ext cx="9144" cy="557784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74320" y="501091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336B"/>
                </a:solidFill>
                <a:latin typeface="Calibri"/>
              </a:rPr>
              <a:t>Storage Efficiency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075688" y="4974336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24242"/>
                </a:solidFill>
                <a:latin typeface="Calibri"/>
              </a:rPr>
              <a:t>Compare DB vs. MinIO/S3 footprint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818888" y="4974336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24242"/>
                </a:solidFill>
                <a:latin typeface="Calibri"/>
              </a:rPr>
              <a:t>Reduced DB storage load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836408" y="4974336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24242"/>
                </a:solidFill>
                <a:latin typeface="Calibri"/>
              </a:rPr>
              <a:t>Storage metrics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030968" y="5038344"/>
            <a:ext cx="1554480" cy="256032"/>
          </a:xfrm>
          <a:prstGeom prst="rect">
            <a:avLst/>
          </a:prstGeom>
          <a:solidFill>
            <a:srgbClr val="FFF3E0"/>
          </a:solidFill>
          <a:ln w="1016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030968" y="5056632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8F00"/>
                </a:solidFill>
                <a:latin typeface="Calibri"/>
              </a:rPr>
              <a:t>PLANNED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01168" y="5458968"/>
            <a:ext cx="11795760" cy="557784"/>
          </a:xfrm>
          <a:prstGeom prst="rect">
            <a:avLst/>
          </a:prstGeom>
          <a:solidFill>
            <a:srgbClr val="FFFFFF"/>
          </a:solidFill>
          <a:ln w="381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2029968" y="5458968"/>
            <a:ext cx="9144" cy="557784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4773168" y="5458968"/>
            <a:ext cx="9144" cy="557784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790688" y="5458968"/>
            <a:ext cx="9144" cy="557784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9893808" y="5458968"/>
            <a:ext cx="9144" cy="557784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74320" y="556869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336B"/>
                </a:solidFill>
                <a:latin typeface="Calibri"/>
              </a:rPr>
              <a:t>Reliability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075688" y="5532120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24242"/>
                </a:solidFill>
                <a:latin typeface="Calibri"/>
              </a:rPr>
              <a:t>Transaction rollback testing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818888" y="5532120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24242"/>
                </a:solidFill>
                <a:latin typeface="Calibri"/>
              </a:rPr>
              <a:t>Full ACID compliance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836408" y="5532120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24242"/>
                </a:solidFill>
                <a:latin typeface="Calibri"/>
              </a:rPr>
              <a:t>PostgreSQL txn tests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030968" y="5596128"/>
            <a:ext cx="1554480" cy="256032"/>
          </a:xfrm>
          <a:prstGeom prst="rect">
            <a:avLst/>
          </a:prstGeom>
          <a:solidFill>
            <a:srgbClr val="FFF3E0"/>
          </a:solidFill>
          <a:ln w="1016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030968" y="5614416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8F00"/>
                </a:solidFill>
                <a:latin typeface="Calibri"/>
              </a:rPr>
              <a:t>PLANNED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01168" y="6144768"/>
            <a:ext cx="11795760" cy="320040"/>
          </a:xfrm>
          <a:prstGeom prst="rect">
            <a:avLst/>
          </a:prstGeom>
          <a:solidFill>
            <a:srgbClr val="1A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74320" y="617220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FFD54F"/>
                </a:solidFill>
                <a:latin typeface="Calibri"/>
              </a:rPr>
              <a:t>ℹ  Evaluation results will be updated after implementation and testing are completed.  No benchmark numbers are fabricated.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7315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Dissemination &amp; Accessibility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  <a:latin typeface="Calibri"/>
              </a:rPr>
              <a:t>How the project will be shared, accessed and demonstrated — Evaluation Component 4 (10 Marks)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73152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D54F"/>
                </a:solidFill>
                <a:latin typeface="Calibri"/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556248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BDEFB"/>
                </a:solidFill>
                <a:latin typeface="Calibri"/>
              </a:rPr>
              <a:t>AI-Ready Social Media DBMS  |  DEDB Project — Review 3  |  2026–2027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55624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BBDEFB"/>
                </a:solidFill>
                <a:latin typeface="Calibri"/>
              </a:rPr>
              <a:t>Supervisor: Dr. P. Lalitha Surya Kumari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207008"/>
            <a:ext cx="2057400" cy="960120"/>
          </a:xfrm>
          <a:prstGeom prst="rect">
            <a:avLst/>
          </a:prstGeom>
          <a:solidFill>
            <a:srgbClr val="1A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298448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📁
Source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40864" y="1527048"/>
            <a:ext cx="1463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88E5"/>
                </a:solidFill>
                <a:latin typeface="Calibri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31789759119" y="1207008"/>
            <a:ext cx="2057400" cy="9601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31789804839" y="1298448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📄
Documentation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31791825663" y="1527048"/>
            <a:ext cx="1463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88E5"/>
                </a:solidFill>
                <a:latin typeface="Calibri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63579243920" y="1207008"/>
            <a:ext cx="2057400" cy="96012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63579289640" y="1298448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🗄
Database Schema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3581310464" y="1527048"/>
            <a:ext cx="1463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88E5"/>
                </a:solidFill>
                <a:latin typeface="Calibri"/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5368728720" y="1207008"/>
            <a:ext cx="2057400" cy="96012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5368774440" y="1298448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🔌
API Reference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5370795264" y="1527048"/>
            <a:ext cx="1463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88E5"/>
                </a:solidFill>
                <a:latin typeface="Calibri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27158213520" y="1207008"/>
            <a:ext cx="2057400" cy="960120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27158259240" y="1298448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🎥
Demonstration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2377440"/>
            <a:ext cx="502920" cy="804672"/>
          </a:xfrm>
          <a:prstGeom prst="rect">
            <a:avLst/>
          </a:prstGeom>
          <a:solidFill>
            <a:srgbClr val="1A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1168" y="25603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23774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36B"/>
                </a:solidFill>
                <a:latin typeface="Calibri"/>
              </a:rPr>
              <a:t>Source Code Repository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2670048"/>
            <a:ext cx="50292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24242"/>
                </a:solidFill>
                <a:latin typeface="Calibri"/>
              </a:rPr>
              <a:t>GitHub Repository
(URL — To Be Added upon completion)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3310128"/>
            <a:ext cx="502920" cy="804672"/>
          </a:xfrm>
          <a:prstGeom prst="rect">
            <a:avLst/>
          </a:prstGeom>
          <a:solidFill>
            <a:srgbClr val="1A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1168" y="349300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331012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36B"/>
                </a:solidFill>
                <a:latin typeface="Calibri"/>
              </a:rPr>
              <a:t>Database Design Artefacts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3602736"/>
            <a:ext cx="50292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24242"/>
                </a:solidFill>
                <a:latin typeface="Calibri"/>
              </a:rPr>
              <a:t>ER Diagram  •  Normalisation proofs
14 core tables  •  3NF documentation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1168" y="4242816"/>
            <a:ext cx="502920" cy="804672"/>
          </a:xfrm>
          <a:prstGeom prst="rect">
            <a:avLst/>
          </a:prstGeom>
          <a:solidFill>
            <a:srgbClr val="1A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1168" y="4425696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424281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36B"/>
                </a:solidFill>
                <a:latin typeface="Calibri"/>
              </a:rPr>
              <a:t>Project Documentation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4535424"/>
            <a:ext cx="50292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24242"/>
                </a:solidFill>
                <a:latin typeface="Calibri"/>
              </a:rPr>
              <a:t>System architecture report
Setup instructions  •  API usage guide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01168" y="5175504"/>
            <a:ext cx="502920" cy="804672"/>
          </a:xfrm>
          <a:prstGeom prst="rect">
            <a:avLst/>
          </a:prstGeom>
          <a:solidFill>
            <a:srgbClr val="1A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1168" y="5358384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17550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36B"/>
                </a:solidFill>
                <a:latin typeface="Calibri"/>
              </a:rPr>
              <a:t>API Documentation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468112"/>
            <a:ext cx="50292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24242"/>
                </a:solidFill>
                <a:latin typeface="Calibri"/>
              </a:rPr>
              <a:t>REST endpoint specifications
Request/response schemas  •  Auth guide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2377440"/>
            <a:ext cx="502920" cy="804672"/>
          </a:xfrm>
          <a:prstGeom prst="rect">
            <a:avLst/>
          </a:prstGeom>
          <a:solidFill>
            <a:srgbClr val="1A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60" y="25603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🧪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76288" y="237744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36B"/>
                </a:solidFill>
                <a:latin typeface="Calibri"/>
              </a:rPr>
              <a:t>Testing Evidence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76288" y="2670048"/>
            <a:ext cx="5120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24242"/>
                </a:solidFill>
                <a:latin typeface="Calibri"/>
              </a:rPr>
              <a:t>Unit test plans  •  Integration test specs
Planned benchmarks (post-implementation)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09360" y="3310128"/>
            <a:ext cx="502920" cy="804672"/>
          </a:xfrm>
          <a:prstGeom prst="rect">
            <a:avLst/>
          </a:prstGeom>
          <a:solidFill>
            <a:srgbClr val="1A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9360" y="349300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76288" y="331012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36B"/>
                </a:solidFill>
                <a:latin typeface="Calibri"/>
              </a:rPr>
              <a:t>Live Demonstration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76288" y="3602736"/>
            <a:ext cx="5120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24242"/>
                </a:solidFill>
                <a:latin typeface="Calibri"/>
              </a:rPr>
              <a:t>Workflow walkthrough
CRUD operations  •  Auth demo  •  Media upload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09360" y="4242816"/>
            <a:ext cx="502920" cy="804672"/>
          </a:xfrm>
          <a:prstGeom prst="rect">
            <a:avLst/>
          </a:prstGeom>
          <a:solidFill>
            <a:srgbClr val="1A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60" y="4425696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76288" y="4242816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36B"/>
                </a:solidFill>
                <a:latin typeface="Calibri"/>
              </a:rPr>
              <a:t>Access &amp; Security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76288" y="4535424"/>
            <a:ext cx="5120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24242"/>
                </a:solidFill>
                <a:latin typeface="Calibri"/>
              </a:rPr>
              <a:t>Role-based access model
JWT token lifecycle demonstration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09360" y="5175504"/>
            <a:ext cx="502920" cy="804672"/>
          </a:xfrm>
          <a:prstGeom prst="rect">
            <a:avLst/>
          </a:prstGeom>
          <a:solidFill>
            <a:srgbClr val="1A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09360" y="5358384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🌐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76288" y="5175504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36B"/>
                </a:solidFill>
                <a:latin typeface="Calibri"/>
              </a:rPr>
              <a:t>Accessibility Standards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76288" y="5468112"/>
            <a:ext cx="5120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24242"/>
                </a:solidFill>
                <a:latin typeface="Calibri"/>
              </a:rPr>
              <a:t>Open-source structure
Clear README  •  Environment config guide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08192" y="2377440"/>
            <a:ext cx="18288" cy="3749039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01168" y="6144768"/>
            <a:ext cx="11795760" cy="320040"/>
          </a:xfrm>
          <a:prstGeom prst="rect">
            <a:avLst/>
          </a:prstGeom>
          <a:solidFill>
            <a:srgbClr val="1A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74320" y="617220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FFD54F"/>
                </a:solidFill>
                <a:latin typeface="Calibri"/>
              </a:rPr>
              <a:t>🔗  GitHub Repository — To be added after implementation completion  |  All artefacts will be structured for open academic access.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7315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Implementation Roadmap, Future Scope &amp;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  <a:latin typeface="Calibri"/>
              </a:rPr>
              <a:t>Current progress  •  Active implementation  •  Upcoming milestones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73152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D54F"/>
                </a:solidFill>
                <a:latin typeface="Calibri"/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556248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BDEFB"/>
                </a:solidFill>
                <a:latin typeface="Calibri"/>
              </a:rPr>
              <a:t>AI-Ready Social Media DBMS  |  DEDB Project — Review 3  |  2026–2027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55624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BBDEFB"/>
                </a:solidFill>
                <a:latin typeface="Calibri"/>
              </a:rPr>
              <a:t>Supervisor: Dr. P. Lalitha Surya Kumari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" y="1115568"/>
            <a:ext cx="3776472" cy="4937760"/>
          </a:xfrm>
          <a:prstGeom prst="rect">
            <a:avLst/>
          </a:prstGeom>
          <a:solidFill>
            <a:srgbClr val="FFFFFF"/>
          </a:solidFill>
          <a:ln w="190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1168" y="1115568"/>
            <a:ext cx="3776472" cy="475488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" y="1188720"/>
            <a:ext cx="36850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✅  COMPLETED / DESIGNED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709928"/>
            <a:ext cx="164592" cy="164592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1682496"/>
            <a:ext cx="3374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  <a:latin typeface="Calibri"/>
              </a:rPr>
              <a:t>3NF database architecture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240280"/>
            <a:ext cx="164592" cy="164592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2212848"/>
            <a:ext cx="3374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  <a:latin typeface="Calibri"/>
              </a:rPr>
              <a:t>14 core relational tables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770632"/>
            <a:ext cx="164592" cy="164592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2743199"/>
            <a:ext cx="3374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  <a:latin typeface="Calibri"/>
              </a:rPr>
              <a:t>ER diagram &amp; relationships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300983"/>
            <a:ext cx="164592" cy="164592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3273552"/>
            <a:ext cx="3374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  <a:latin typeface="Calibri"/>
              </a:rPr>
              <a:t>Database methodology documentation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831336"/>
            <a:ext cx="164592" cy="164592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3803904"/>
            <a:ext cx="3374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  <a:latin typeface="Calibri"/>
              </a:rPr>
              <a:t>System architecture design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361688"/>
            <a:ext cx="164592" cy="164592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" y="4334256"/>
            <a:ext cx="3374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  <a:latin typeface="Calibri"/>
              </a:rPr>
              <a:t>Security architecture (JWT + bcrypt)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892040"/>
            <a:ext cx="164592" cy="164592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" y="4864607"/>
            <a:ext cx="3374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  <a:latin typeface="Calibri"/>
              </a:rPr>
              <a:t>SQL query design &amp; optimisation plan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5422392"/>
            <a:ext cx="164592" cy="164592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064" y="5394960"/>
            <a:ext cx="3374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  <a:latin typeface="Calibri"/>
              </a:rPr>
              <a:t>Normalisation proofs (1NF→2NF→3NF)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06240" y="1115568"/>
            <a:ext cx="3776472" cy="49377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06240" y="1115568"/>
            <a:ext cx="3776472" cy="475488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61104" y="1188720"/>
            <a:ext cx="36850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🔄  IMPLEMENTATION IN PROGRESS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79392" y="1709928"/>
            <a:ext cx="164592" cy="164592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17136" y="1682496"/>
            <a:ext cx="3374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  <a:latin typeface="Calibri"/>
              </a:rPr>
              <a:t>PostgreSQL schema implementation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79392" y="2240280"/>
            <a:ext cx="164592" cy="164592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17136" y="2212848"/>
            <a:ext cx="3374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  <a:latin typeface="Calibri"/>
              </a:rPr>
              <a:t>Node.js / Express API development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79392" y="2770632"/>
            <a:ext cx="164592" cy="164592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17136" y="2743199"/>
            <a:ext cx="3374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  <a:latin typeface="Calibri"/>
              </a:rPr>
              <a:t>Redis cache integration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79392" y="3300983"/>
            <a:ext cx="164592" cy="164592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17136" y="3273552"/>
            <a:ext cx="3374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  <a:latin typeface="Calibri"/>
              </a:rPr>
              <a:t>MinIO / S3 media storage integration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79392" y="3831336"/>
            <a:ext cx="164592" cy="164592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17136" y="3803904"/>
            <a:ext cx="3374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  <a:latin typeface="Calibri"/>
              </a:rPr>
              <a:t>JWT authentication implementation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79392" y="4361688"/>
            <a:ext cx="164592" cy="164592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17136" y="4334256"/>
            <a:ext cx="3374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  <a:latin typeface="Calibri"/>
              </a:rPr>
              <a:t>bcrypt password hashing setup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79392" y="4892040"/>
            <a:ext cx="164592" cy="164592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17136" y="4864607"/>
            <a:ext cx="3374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  <a:latin typeface="Calibri"/>
              </a:rPr>
              <a:t>Unit &amp; integration testing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79392" y="5422392"/>
            <a:ext cx="164592" cy="164592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17136" y="5394960"/>
            <a:ext cx="3374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  <a:latin typeface="Calibri"/>
              </a:rPr>
              <a:t>Performance benchmarking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11312" y="1115568"/>
            <a:ext cx="3886200" cy="4937760"/>
          </a:xfrm>
          <a:prstGeom prst="rect">
            <a:avLst/>
          </a:prstGeom>
          <a:solidFill>
            <a:srgbClr val="FFFFFF"/>
          </a:solidFill>
          <a:ln w="190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211312" y="1115568"/>
            <a:ext cx="3886200" cy="475488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66175" y="1188720"/>
            <a:ext cx="3776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🔮  FUTURE SCOPE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84464" y="1709928"/>
            <a:ext cx="164592" cy="164592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22208" y="1682496"/>
            <a:ext cx="3502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  <a:latin typeface="Calibri"/>
              </a:rPr>
              <a:t>PgVector semantic recommendations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84464" y="2240280"/>
            <a:ext cx="164592" cy="164592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22208" y="2212848"/>
            <a:ext cx="3502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  <a:latin typeface="Calibri"/>
              </a:rPr>
              <a:t>Apache Kafka real-time event streaming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84464" y="2770632"/>
            <a:ext cx="164592" cy="164592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522208" y="2743199"/>
            <a:ext cx="3502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  <a:latin typeface="Calibri"/>
              </a:rPr>
              <a:t>Graph / hybrid DB social analytics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284464" y="3300983"/>
            <a:ext cx="164592" cy="164592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522208" y="3273552"/>
            <a:ext cx="3502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  <a:latin typeface="Calibri"/>
              </a:rPr>
              <a:t>High-availability &amp; failover setup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284464" y="3831336"/>
            <a:ext cx="164592" cy="164592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522208" y="3803904"/>
            <a:ext cx="3502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  <a:latin typeface="Calibri"/>
              </a:rPr>
              <a:t>Load testing at scale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84464" y="4361688"/>
            <a:ext cx="164592" cy="164592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522208" y="4334256"/>
            <a:ext cx="3502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  <a:latin typeface="Calibri"/>
              </a:rPr>
              <a:t>Security &amp; penetration testing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284464" y="4892040"/>
            <a:ext cx="164592" cy="164592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522208" y="4864607"/>
            <a:ext cx="3502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  <a:latin typeface="Calibri"/>
              </a:rPr>
              <a:t>ML-based content moderation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284464" y="5422392"/>
            <a:ext cx="164592" cy="164592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522208" y="5394960"/>
            <a:ext cx="3502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  <a:latin typeface="Calibri"/>
              </a:rPr>
              <a:t>CI/CD pipeline deployment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01168" y="6144768"/>
            <a:ext cx="11795760" cy="5943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01168" y="6181344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Thank You  —  Questions &amp; Answers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00800" y="62179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BBDEFB"/>
                </a:solidFill>
                <a:latin typeface="Calibri"/>
              </a:rPr>
              <a:t>Supervisor: Dr. P. Lalitha Surya Kumari  |  DEDB Review 3  |  2026–2027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