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28600" cy="67848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11521440" y="6492240"/>
            <a:ext cx="594360" cy="320040"/>
          </a:xfr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01 / 05</a:t>
            </a:r>
          </a:p>
        </p:txBody>
      </p:sp>
      <p:sp>
        <p:nvSpPr>
          <p:cNvPr id="6" name="Rectangle 5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457200" y="274320"/>
            <a:ext cx="7315200" cy="1645920"/>
          </a:xfrm>
          <a:solidFill>
            <a:srgbClr val="1A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D8"/>
                </a:solidFill>
                <a:latin typeface="Segoe UI"/>
              </a:rPr>
              <a:t>SocialConnect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3268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0E0EF"/>
                </a:solidFill>
                <a:latin typeface="Segoe UI"/>
              </a:rPr>
              <a:t>Social Media Database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D3DD"/>
                </a:solidFill>
                <a:latin typeface="Segoe UI"/>
              </a:rPr>
              <a:t>B.Tech CSE  ·  DBMS Project</a:t>
            </a:r>
          </a:p>
        </p:txBody>
      </p:sp>
      <p:sp>
        <p:nvSpPr>
          <p:cNvPr id="10" name="Rectangle 9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457200" y="2103120"/>
            <a:ext cx="7315200" cy="1234440"/>
          </a:xfr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2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  <a:latin typeface="Segoe UI"/>
              </a:rPr>
              <a:t>Project Overview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SocialConnect is a fully implemented web-based social media application</a:t>
            </a:r>
          </a:p>
          <a:p>
            <a:pPr algn="l"/>
            <a:r>
              <a:rPr sz="1100" b="0">
                <a:solidFill>
                  <a:srgbClr val="CAD3DD"/>
                </a:solidFill>
                <a:latin typeface="Segoe UI"/>
              </a:rPr>
              <a:t>built as a B.Tech DBMS project. It integrates a PostgreSQL relational</a:t>
            </a:r>
          </a:p>
          <a:p>
            <a:pPr algn="l"/>
            <a:r>
              <a:rPr sz="1100" b="0">
                <a:solidFill>
                  <a:srgbClr val="CAD3DD"/>
                </a:solidFill>
                <a:latin typeface="Segoe UI"/>
              </a:rPr>
              <a:t>database with a Python/Flask backend and an HTML/CSS/JS frontend.</a:t>
            </a:r>
          </a:p>
        </p:txBody>
      </p:sp>
      <p:sp>
        <p:nvSpPr>
          <p:cNvPr id="12" name="Rectangle 11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457200" y="3493008"/>
            <a:ext cx="3520440" cy="1188720"/>
          </a:xfrm>
          <a:solidFill>
            <a:srgbClr val="1A2E44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703"/>
                </a:solidFill>
                <a:latin typeface="Segoe UI"/>
              </a:rPr>
              <a:t>⚠  Problem</a:t>
            </a:r>
          </a:p>
          <a:p>
            <a:pPr algn="l"/>
            <a:r>
              <a:rPr sz="1100" b="0">
                <a:solidFill>
                  <a:srgbClr val="CAD3DD"/>
                </a:solidFill>
                <a:latin typeface="Segoe UI"/>
              </a:rPr>
              <a:t>Managing users, posts, likes,</a:t>
            </a:r>
          </a:p>
          <a:p>
            <a:pPr algn="l"/>
            <a:r>
              <a:rPr sz="1100" b="0">
                <a:solidFill>
                  <a:srgbClr val="CAD3DD"/>
                </a:solidFill>
                <a:latin typeface="Segoe UI"/>
              </a:rPr>
              <a:t>comments &amp; followers efficiently</a:t>
            </a:r>
          </a:p>
          <a:p>
            <a:pPr algn="l"/>
            <a:r>
              <a:rPr sz="1100" b="0">
                <a:solidFill>
                  <a:srgbClr val="CAD3DD"/>
                </a:solidFill>
                <a:latin typeface="Segoe UI"/>
              </a:rPr>
              <a:t>in a structured, relational model.</a:t>
            </a:r>
          </a:p>
        </p:txBody>
      </p:sp>
      <p:sp>
        <p:nvSpPr>
          <p:cNvPr id="14" name="Rectangle 13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4160520" y="3493008"/>
            <a:ext cx="3611880" cy="1188720"/>
          </a:xfrm>
          <a:solidFill>
            <a:srgbClr val="1A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56616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D6A0"/>
                </a:solidFill>
                <a:latin typeface="Segoe UI"/>
              </a:rPr>
              <a:t>✔  Solution</a:t>
            </a:r>
          </a:p>
          <a:p>
            <a:pPr algn="l"/>
            <a:r>
              <a:rPr sz="1100" b="0">
                <a:solidFill>
                  <a:srgbClr val="CAD3DD"/>
                </a:solidFill>
                <a:latin typeface="Segoe UI"/>
              </a:rPr>
              <a:t>A database-driven social media web</a:t>
            </a:r>
          </a:p>
          <a:p>
            <a:pPr algn="l"/>
            <a:r>
              <a:rPr sz="1100" b="0">
                <a:solidFill>
                  <a:srgbClr val="CAD3DD"/>
                </a:solidFill>
                <a:latin typeface="Segoe UI"/>
              </a:rPr>
              <a:t>app backed by PostgreSQL with full</a:t>
            </a:r>
          </a:p>
          <a:p>
            <a:pPr algn="l"/>
            <a:r>
              <a:rPr sz="1100" b="0">
                <a:solidFill>
                  <a:srgbClr val="CAD3DD"/>
                </a:solidFill>
                <a:latin typeface="Segoe UI"/>
              </a:rPr>
              <a:t>CRUD operations via REST APIs.</a:t>
            </a:r>
          </a:p>
        </p:txBody>
      </p:sp>
      <p:sp>
        <p:nvSpPr>
          <p:cNvPr id="16" name="Rectangle 15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8275320" y="1005840"/>
            <a:ext cx="3474720" cy="685800"/>
          </a:xfrm>
          <a:solidFill>
            <a:srgbClr val="1A2E44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143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0E0EF"/>
                </a:solidFill>
                <a:latin typeface="Segoe UI"/>
              </a:rPr>
              <a:t>👤  User</a:t>
            </a:r>
          </a:p>
        </p:txBody>
      </p:sp>
      <p:sp>
        <p:nvSpPr>
          <p:cNvPr id="18" name="Rectangle 17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8275320" y="2423160"/>
            <a:ext cx="3474720" cy="685800"/>
          </a:xfrm>
          <a:solidFill>
            <a:srgbClr val="1A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560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Segoe UI"/>
              </a:rPr>
              <a:t>⚙  SocialConnect</a:t>
            </a:r>
          </a:p>
        </p:txBody>
      </p:sp>
      <p:sp>
        <p:nvSpPr>
          <p:cNvPr id="20" name="Rectangle 19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8275320" y="3840480"/>
            <a:ext cx="3474720" cy="685800"/>
          </a:xfrm>
          <a:solidFill>
            <a:srgbClr val="1A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977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  <a:latin typeface="Segoe UI"/>
              </a:rPr>
              <a:t>🗄  PostgreSQL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  <a:latin typeface="Segoe UI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  <a:latin typeface="Segoe UI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D"/>
                </a:solidFill>
                <a:latin typeface="Segoe UI"/>
              </a:rPr>
              <a:t>HTTP / 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D"/>
                </a:solidFill>
                <a:latin typeface="Segoe UI"/>
              </a:rPr>
              <a:t>Psycopg2 / 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94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  <a:latin typeface="Segoe UI"/>
              </a:rPr>
              <a:t>System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28600" cy="67848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11521440" y="6492240"/>
            <a:ext cx="594360" cy="320040"/>
          </a:xfr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02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System Architecture &amp; Technical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40080"/>
            <a:ext cx="7772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457200" y="868680"/>
            <a:ext cx="5303520" cy="658368"/>
          </a:xfrm>
          <a:solidFill>
            <a:srgbClr val="1A2E44"/>
          </a:solidFill>
          <a:ln w="254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4183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0E0EF"/>
                </a:solidFill>
                <a:latin typeface="Segoe UI"/>
              </a:rPr>
              <a:t>HTML + CSS +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3DD"/>
                </a:solidFill>
                <a:latin typeface="Segoe UI"/>
              </a:rPr>
              <a:t>Frontend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536192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Segoe U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457200" y="1618488"/>
            <a:ext cx="5303520" cy="658368"/>
          </a:xfrm>
          <a:solidFill>
            <a:srgbClr val="1A2E44"/>
          </a:solidFill>
          <a:ln w="254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69164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B703"/>
                </a:solidFill>
                <a:latin typeface="Segoe UI"/>
              </a:rPr>
              <a:t>REST API 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3DD"/>
                </a:solidFill>
                <a:latin typeface="Segoe UI"/>
              </a:rPr>
              <a:t>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286000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Segoe U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457200" y="2368296"/>
            <a:ext cx="5303520" cy="658368"/>
          </a:xfrm>
          <a:solidFill>
            <a:srgbClr val="1A2E44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4144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Segoe UI"/>
              </a:rPr>
              <a:t>Flask  (Python)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75234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3DD"/>
                </a:solidFill>
                <a:latin typeface="Segoe UI"/>
              </a:rPr>
              <a:t>Backend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035807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Segoe U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457200" y="3118104"/>
            <a:ext cx="5303520" cy="658368"/>
          </a:xfrm>
          <a:solidFill>
            <a:srgbClr val="1A2E44"/>
          </a:solidFill>
          <a:ln w="2540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9125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AD3DD"/>
                </a:solidFill>
                <a:latin typeface="Segoe UI"/>
              </a:rPr>
              <a:t>Psycopg2 Driver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50215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3DD"/>
                </a:solidFill>
                <a:latin typeface="Segoe UI"/>
              </a:rPr>
              <a:t>DB Connector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785615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Segoe U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457200" y="3867911"/>
            <a:ext cx="5303520" cy="658368"/>
          </a:xfrm>
          <a:solidFill>
            <a:srgbClr val="1A2E44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41063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  <a:latin typeface="Segoe UI"/>
              </a:rPr>
              <a:t>PostgreSQL → social_media_db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251959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3DD"/>
                </a:solidFill>
                <a:latin typeface="Segoe UI"/>
              </a:rPr>
              <a:t>Database Layer</a:t>
            </a:r>
          </a:p>
        </p:txBody>
      </p:sp>
      <p:sp>
        <p:nvSpPr>
          <p:cNvPr id="28" name="Rectangle 27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57200" y="5166360"/>
            <a:ext cx="5303520" cy="594360"/>
          </a:xfrm>
          <a:solidFill>
            <a:srgbClr val="1A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395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A0"/>
                </a:solidFill>
                <a:latin typeface="Segoe UI"/>
              </a:rPr>
              <a:t>✔  Frontend, Backend &amp; Database — Successfully Integrated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777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  <a:latin typeface="Segoe UI"/>
              </a:rPr>
              <a:t>Technologies Used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097280"/>
            <a:ext cx="530352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6400800" y="1234440"/>
            <a:ext cx="5303520" cy="749808"/>
          </a:xfrm>
          <a:solidFill>
            <a:srgbClr val="1A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13075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🐍 Python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16367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D"/>
                </a:solidFill>
                <a:latin typeface="Segoe UI"/>
              </a:rPr>
              <a:t>Application Logic</a:t>
            </a:r>
          </a:p>
        </p:txBody>
      </p:sp>
      <p:sp>
        <p:nvSpPr>
          <p:cNvPr id="35" name="Rectangle 34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6400800" y="2112264"/>
            <a:ext cx="5303520" cy="749808"/>
          </a:xfrm>
          <a:solidFill>
            <a:srgbClr val="1A2E44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21854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  <a:latin typeface="Segoe UI"/>
              </a:rPr>
              <a:t>⚗  Flask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2514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D"/>
                </a:solidFill>
                <a:latin typeface="Segoe UI"/>
              </a:rPr>
              <a:t>Web Framework / API Server</a:t>
            </a:r>
          </a:p>
        </p:txBody>
      </p:sp>
      <p:sp>
        <p:nvSpPr>
          <p:cNvPr id="38" name="Rectangle 37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6400800" y="2990088"/>
            <a:ext cx="5303520" cy="749808"/>
          </a:xfrm>
          <a:solidFill>
            <a:srgbClr val="1A2E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30632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  <a:latin typeface="Segoe UI"/>
              </a:rPr>
              <a:t>🔗 REST APIs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33924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D"/>
                </a:solidFill>
                <a:latin typeface="Segoe UI"/>
              </a:rPr>
              <a:t>HTTP Endpoint Communication</a:t>
            </a:r>
          </a:p>
        </p:txBody>
      </p:sp>
      <p:sp>
        <p:nvSpPr>
          <p:cNvPr id="41" name="Rectangle 40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6400800" y="3867912"/>
            <a:ext cx="5303520" cy="749808"/>
          </a:xfrm>
          <a:solidFill>
            <a:srgbClr val="1A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39410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🐘 PostgreSQL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42702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D"/>
                </a:solidFill>
                <a:latin typeface="Segoe UI"/>
              </a:rPr>
              <a:t>Relational Database Engine</a:t>
            </a:r>
          </a:p>
        </p:txBody>
      </p:sp>
      <p:sp>
        <p:nvSpPr>
          <p:cNvPr id="44" name="Rectangle 43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6400800" y="4745736"/>
            <a:ext cx="5303520" cy="749808"/>
          </a:xfrm>
          <a:solidFill>
            <a:srgbClr val="1A2E44"/>
          </a:solidFill>
          <a:ln w="1270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48188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3DD"/>
                </a:solidFill>
                <a:latin typeface="Segoe UI"/>
              </a:rPr>
              <a:t>🔌 Psycopg2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5392" y="51480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D"/>
                </a:solidFill>
                <a:latin typeface="Segoe UI"/>
              </a:rPr>
              <a:t>Python–PostgreSQL Connector</a:t>
            </a:r>
          </a:p>
        </p:txBody>
      </p:sp>
      <p:sp>
        <p:nvSpPr>
          <p:cNvPr id="47" name="Rectangle 46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6400800" y="5623560"/>
            <a:ext cx="5303520" cy="749808"/>
          </a:xfrm>
          <a:solidFill>
            <a:srgbClr val="1A2E44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65392" y="56967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  <a:latin typeface="Segoe UI"/>
              </a:rPr>
              <a:t>🌐 HTML / CSS / JS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5392" y="60258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D"/>
                </a:solidFill>
                <a:latin typeface="Segoe UI"/>
              </a:rPr>
              <a:t>User Interface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28600" cy="67848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11521440" y="6492240"/>
            <a:ext cx="594360" cy="320040"/>
          </a:xfr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03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Database Design &amp; Accuracy of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4008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498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  <a:latin typeface="Segoe UI"/>
              </a:rPr>
              <a:t>Schema — 5 Relational Tables</a:t>
            </a:r>
          </a:p>
        </p:txBody>
      </p:sp>
      <p:sp>
        <p:nvSpPr>
          <p:cNvPr id="10" name="Rectangle 9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502920" y="1188720"/>
            <a:ext cx="1463040" cy="640080"/>
          </a:xfrm>
          <a:solidFill>
            <a:srgbClr val="1A2E44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5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Segoe UI"/>
              </a:rPr>
              <a:t>users</a:t>
            </a:r>
          </a:p>
        </p:txBody>
      </p:sp>
      <p:sp>
        <p:nvSpPr>
          <p:cNvPr id="12" name="Rectangle 11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502920" y="2331720"/>
            <a:ext cx="1463040" cy="640080"/>
          </a:xfrm>
          <a:solidFill>
            <a:srgbClr val="1A2E44"/>
          </a:solidFill>
          <a:ln w="254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78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0E0EF"/>
                </a:solidFill>
                <a:latin typeface="Segoe UI"/>
              </a:rPr>
              <a:t>posts</a:t>
            </a:r>
          </a:p>
        </p:txBody>
      </p:sp>
      <p:sp>
        <p:nvSpPr>
          <p:cNvPr id="14" name="Rectangle 13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502920" y="3474720"/>
            <a:ext cx="1463040" cy="640080"/>
          </a:xfrm>
          <a:solidFill>
            <a:srgbClr val="1A2E44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21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  <a:latin typeface="Segoe UI"/>
              </a:rPr>
              <a:t>likes</a:t>
            </a:r>
          </a:p>
        </p:txBody>
      </p:sp>
      <p:sp>
        <p:nvSpPr>
          <p:cNvPr id="16" name="Rectangle 15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2331720" y="2331720"/>
            <a:ext cx="1463040" cy="640080"/>
          </a:xfrm>
          <a:solidFill>
            <a:srgbClr val="1A2E44"/>
          </a:solidFill>
          <a:ln w="254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39" y="2478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703"/>
                </a:solidFill>
                <a:latin typeface="Segoe UI"/>
              </a:rPr>
              <a:t>comments</a:t>
            </a:r>
          </a:p>
        </p:txBody>
      </p:sp>
      <p:sp>
        <p:nvSpPr>
          <p:cNvPr id="18" name="Rectangle 17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2331720" y="3474720"/>
            <a:ext cx="1463040" cy="640080"/>
          </a:xfrm>
          <a:solidFill>
            <a:srgbClr val="1A2E44"/>
          </a:solidFill>
          <a:ln w="2540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39" y="3621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AD3DD"/>
                </a:solidFill>
                <a:latin typeface="Segoe UI"/>
              </a:rPr>
              <a:t>followers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828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Segoe UI"/>
              </a:rPr>
              <a:t>↓  user_id (FK)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71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  <a:latin typeface="Segoe UI"/>
              </a:rPr>
              <a:t>↓  post_id (FK)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011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B703"/>
                </a:solidFill>
                <a:latin typeface="Segoe UI"/>
              </a:rPr>
              <a:t>→  user_id (FK)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160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D"/>
                </a:solidFill>
                <a:latin typeface="Segoe UI"/>
              </a:rPr>
              <a:t>↕  follower_id / following_id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7498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  <a:latin typeface="Segoe UI"/>
              </a:rPr>
              <a:t>Database Features</a:t>
            </a:r>
          </a:p>
        </p:txBody>
      </p:sp>
      <p:sp>
        <p:nvSpPr>
          <p:cNvPr id="25" name="Rectangle 24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663440" y="1188720"/>
            <a:ext cx="3657600" cy="384048"/>
          </a:xfrm>
          <a:solidFill>
            <a:srgbClr val="1A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12618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Segoe UI"/>
              </a:rPr>
              <a:t>▸  Primary Keys</a:t>
            </a:r>
          </a:p>
        </p:txBody>
      </p:sp>
      <p:sp>
        <p:nvSpPr>
          <p:cNvPr id="27" name="Rectangle 26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663440" y="1664208"/>
            <a:ext cx="3657600" cy="384048"/>
          </a:xfrm>
          <a:solidFill>
            <a:srgbClr val="1A2E44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17373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  <a:latin typeface="Segoe UI"/>
              </a:rPr>
              <a:t>▸  Foreign Keys</a:t>
            </a:r>
          </a:p>
        </p:txBody>
      </p:sp>
      <p:sp>
        <p:nvSpPr>
          <p:cNvPr id="29" name="Rectangle 28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663440" y="2139696"/>
            <a:ext cx="3657600" cy="384048"/>
          </a:xfrm>
          <a:solidFill>
            <a:srgbClr val="1A2E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22128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B703"/>
                </a:solidFill>
                <a:latin typeface="Segoe UI"/>
              </a:rPr>
              <a:t>▸  Composite PK — followers table</a:t>
            </a:r>
          </a:p>
        </p:txBody>
      </p:sp>
      <p:sp>
        <p:nvSpPr>
          <p:cNvPr id="31" name="Rectangle 30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663440" y="2615184"/>
            <a:ext cx="3657600" cy="384048"/>
          </a:xfrm>
          <a:solidFill>
            <a:srgbClr val="1A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268833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Segoe UI"/>
              </a:rPr>
              <a:t>▸  ON DELETE CASCADE</a:t>
            </a:r>
          </a:p>
        </p:txBody>
      </p:sp>
      <p:sp>
        <p:nvSpPr>
          <p:cNvPr id="33" name="Rectangle 32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663440" y="3090672"/>
            <a:ext cx="3657600" cy="384048"/>
          </a:xfrm>
          <a:solidFill>
            <a:srgbClr val="1A2E44"/>
          </a:solidFill>
          <a:ln w="1270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316382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D"/>
                </a:solidFill>
                <a:latin typeface="Segoe UI"/>
              </a:rPr>
              <a:t>▸  Referential Integrity</a:t>
            </a:r>
          </a:p>
        </p:txBody>
      </p:sp>
      <p:sp>
        <p:nvSpPr>
          <p:cNvPr id="35" name="Rectangle 34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663440" y="3566160"/>
            <a:ext cx="3657600" cy="384048"/>
          </a:xfrm>
          <a:solidFill>
            <a:srgbClr val="1A2E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36393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B703"/>
                </a:solidFill>
                <a:latin typeface="Segoe UI"/>
              </a:rPr>
              <a:t>▸  CHECK — prevent self-follow</a:t>
            </a:r>
          </a:p>
        </p:txBody>
      </p:sp>
      <p:sp>
        <p:nvSpPr>
          <p:cNvPr id="37" name="Rectangle 36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663440" y="4041648"/>
            <a:ext cx="3657600" cy="384048"/>
          </a:xfrm>
          <a:solidFill>
            <a:srgbClr val="1A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0600" y="41148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Segoe UI"/>
              </a:rPr>
              <a:t>▸  SQL JOINs</a:t>
            </a:r>
          </a:p>
        </p:txBody>
      </p:sp>
      <p:sp>
        <p:nvSpPr>
          <p:cNvPr id="39" name="Rectangle 38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663440" y="4517136"/>
            <a:ext cx="3657600" cy="384048"/>
          </a:xfrm>
          <a:solidFill>
            <a:srgbClr val="1A2E44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0600" y="45902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  <a:latin typeface="Segoe UI"/>
              </a:rPr>
              <a:t>▸  GROUP BY  +  COUNT()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7498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Segoe UI"/>
              </a:rPr>
              <a:t>Verified Results</a:t>
            </a:r>
          </a:p>
        </p:txBody>
      </p:sp>
      <p:sp>
        <p:nvSpPr>
          <p:cNvPr id="42" name="Rectangle 41"/>
          <p:cNvSpPr/>
          <p:nvPr/>
        </p:nvSpPr>
        <p:spPr>
          <a:prstGeom prst="roundRect">
            <a:avLst>
              <a:gd name="adj" fmla="val 1000"/>
            </a:avLst>
          </a:prstGeom>
          <a:xfrm>
            <a:off x="8503920" y="1170432"/>
            <a:ext cx="1691640" cy="438912"/>
          </a:xfrm>
          <a:solidFill>
            <a:srgbClr val="1A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prstGeom prst="roundRect">
            <a:avLst>
              <a:gd name="adj" fmla="val 1000"/>
            </a:avLst>
          </a:prstGeom>
          <a:xfrm>
            <a:off x="10222992" y="1170432"/>
            <a:ext cx="1627632" cy="438912"/>
          </a:xfrm>
          <a:solidFill>
            <a:srgbClr val="1A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7072" y="12618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Segoe UI"/>
              </a:rPr>
              <a:t>Operation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0" y="12618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Segoe UI"/>
              </a:rPr>
              <a:t>Status</a:t>
            </a:r>
          </a:p>
        </p:txBody>
      </p:sp>
      <p:sp>
        <p:nvSpPr>
          <p:cNvPr id="46" name="Rectangle 45"/>
          <p:cNvSpPr/>
          <p:nvPr/>
        </p:nvSpPr>
        <p:spPr>
          <a:prstGeom prst="roundRect">
            <a:avLst>
              <a:gd name="adj" fmla="val 1000"/>
            </a:avLst>
          </a:prstGeom>
          <a:xfrm>
            <a:off x="8503920" y="1673352"/>
            <a:ext cx="1691640" cy="438912"/>
          </a:xfrm>
          <a:solidFill>
            <a:srgbClr val="0D1B2A"/>
          </a:solidFill>
          <a:ln w="12700">
            <a:solidFill>
              <a:srgbClr val="1A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prstGeom prst="roundRect">
            <a:avLst>
              <a:gd name="adj" fmla="val 1000"/>
            </a:avLst>
          </a:prstGeom>
          <a:xfrm>
            <a:off x="10222992" y="1673352"/>
            <a:ext cx="1627632" cy="438912"/>
          </a:xfrm>
          <a:solidFill>
            <a:srgbClr val="0D1B2A"/>
          </a:solidFill>
          <a:ln w="12700">
            <a:solidFill>
              <a:srgbClr val="1A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77072" y="17647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D"/>
                </a:solidFill>
                <a:latin typeface="Segoe UI"/>
              </a:rPr>
              <a:t>Users stored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87000" y="1764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  <a:latin typeface="Segoe UI"/>
              </a:rPr>
              <a:t>✔ Success</a:t>
            </a:r>
          </a:p>
        </p:txBody>
      </p:sp>
      <p:sp>
        <p:nvSpPr>
          <p:cNvPr id="50" name="Rectangle 49"/>
          <p:cNvSpPr/>
          <p:nvPr/>
        </p:nvSpPr>
        <p:spPr>
          <a:prstGeom prst="roundRect">
            <a:avLst>
              <a:gd name="adj" fmla="val 1000"/>
            </a:avLst>
          </a:prstGeom>
          <a:xfrm>
            <a:off x="8503920" y="2176272"/>
            <a:ext cx="1691640" cy="438912"/>
          </a:xfrm>
          <a:solidFill>
            <a:srgbClr val="0D1B2A"/>
          </a:solidFill>
          <a:ln w="12700">
            <a:solidFill>
              <a:srgbClr val="1A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prstGeom prst="roundRect">
            <a:avLst>
              <a:gd name="adj" fmla="val 1000"/>
            </a:avLst>
          </a:prstGeom>
          <a:xfrm>
            <a:off x="10222992" y="2176272"/>
            <a:ext cx="1627632" cy="438912"/>
          </a:xfrm>
          <a:solidFill>
            <a:srgbClr val="0D1B2A"/>
          </a:solidFill>
          <a:ln w="12700">
            <a:solidFill>
              <a:srgbClr val="1A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77072" y="2267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D"/>
                </a:solidFill>
                <a:latin typeface="Segoe UI"/>
              </a:rPr>
              <a:t>Posts stored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87000" y="2267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  <a:latin typeface="Segoe UI"/>
              </a:rPr>
              <a:t>✔ Success</a:t>
            </a:r>
          </a:p>
        </p:txBody>
      </p:sp>
      <p:sp>
        <p:nvSpPr>
          <p:cNvPr id="54" name="Rectangle 53"/>
          <p:cNvSpPr/>
          <p:nvPr/>
        </p:nvSpPr>
        <p:spPr>
          <a:prstGeom prst="roundRect">
            <a:avLst>
              <a:gd name="adj" fmla="val 1000"/>
            </a:avLst>
          </a:prstGeom>
          <a:xfrm>
            <a:off x="8503920" y="2679192"/>
            <a:ext cx="1691640" cy="438912"/>
          </a:xfrm>
          <a:solidFill>
            <a:srgbClr val="0D1B2A"/>
          </a:solidFill>
          <a:ln w="12700">
            <a:solidFill>
              <a:srgbClr val="1A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prstGeom prst="roundRect">
            <a:avLst>
              <a:gd name="adj" fmla="val 1000"/>
            </a:avLst>
          </a:prstGeom>
          <a:xfrm>
            <a:off x="10222992" y="2679192"/>
            <a:ext cx="1627632" cy="438912"/>
          </a:xfrm>
          <a:solidFill>
            <a:srgbClr val="0D1B2A"/>
          </a:solidFill>
          <a:ln w="12700">
            <a:solidFill>
              <a:srgbClr val="1A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77072" y="27706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D"/>
                </a:solidFill>
                <a:latin typeface="Segoe UI"/>
              </a:rPr>
              <a:t>Likes stored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87000" y="2770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  <a:latin typeface="Segoe UI"/>
              </a:rPr>
              <a:t>✔ Success</a:t>
            </a:r>
          </a:p>
        </p:txBody>
      </p:sp>
      <p:sp>
        <p:nvSpPr>
          <p:cNvPr id="58" name="Rectangle 57"/>
          <p:cNvSpPr/>
          <p:nvPr/>
        </p:nvSpPr>
        <p:spPr>
          <a:prstGeom prst="roundRect">
            <a:avLst>
              <a:gd name="adj" fmla="val 1000"/>
            </a:avLst>
          </a:prstGeom>
          <a:xfrm>
            <a:off x="8503920" y="3182112"/>
            <a:ext cx="1691640" cy="438912"/>
          </a:xfrm>
          <a:solidFill>
            <a:srgbClr val="0D1B2A"/>
          </a:solidFill>
          <a:ln w="12700">
            <a:solidFill>
              <a:srgbClr val="1A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prstGeom prst="roundRect">
            <a:avLst>
              <a:gd name="adj" fmla="val 1000"/>
            </a:avLst>
          </a:prstGeom>
          <a:xfrm>
            <a:off x="10222992" y="3182112"/>
            <a:ext cx="1627632" cy="438912"/>
          </a:xfrm>
          <a:solidFill>
            <a:srgbClr val="0D1B2A"/>
          </a:solidFill>
          <a:ln w="12700">
            <a:solidFill>
              <a:srgbClr val="1A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77072" y="32735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D"/>
                </a:solidFill>
                <a:latin typeface="Segoe UI"/>
              </a:rPr>
              <a:t>Post visible in UI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87000" y="3273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  <a:latin typeface="Segoe UI"/>
              </a:rPr>
              <a:t>✔ Success</a:t>
            </a:r>
          </a:p>
        </p:txBody>
      </p:sp>
      <p:sp>
        <p:nvSpPr>
          <p:cNvPr id="62" name="Rectangle 61"/>
          <p:cNvSpPr/>
          <p:nvPr/>
        </p:nvSpPr>
        <p:spPr>
          <a:prstGeom prst="roundRect">
            <a:avLst>
              <a:gd name="adj" fmla="val 1000"/>
            </a:avLst>
          </a:prstGeom>
          <a:xfrm>
            <a:off x="8503920" y="3685032"/>
            <a:ext cx="1691640" cy="438912"/>
          </a:xfrm>
          <a:solidFill>
            <a:srgbClr val="0D1B2A"/>
          </a:solidFill>
          <a:ln w="12700">
            <a:solidFill>
              <a:srgbClr val="1A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prstGeom prst="roundRect">
            <a:avLst>
              <a:gd name="adj" fmla="val 1000"/>
            </a:avLst>
          </a:prstGeom>
          <a:xfrm>
            <a:off x="10222992" y="3685032"/>
            <a:ext cx="1627632" cy="438912"/>
          </a:xfrm>
          <a:solidFill>
            <a:srgbClr val="0D1B2A"/>
          </a:solidFill>
          <a:ln w="12700">
            <a:solidFill>
              <a:srgbClr val="1A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77072" y="37764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D"/>
                </a:solidFill>
                <a:latin typeface="Segoe UI"/>
              </a:rPr>
              <a:t>DB verified (pgAdmin)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87000" y="3776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  <a:latin typeface="Segoe UI"/>
              </a:rPr>
              <a:t>✔ Success</a:t>
            </a:r>
          </a:p>
        </p:txBody>
      </p:sp>
      <p:sp>
        <p:nvSpPr>
          <p:cNvPr id="66" name="Rectangle 65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8503920" y="4251960"/>
            <a:ext cx="3364992" cy="594360"/>
          </a:xfrm>
          <a:solidFill>
            <a:srgbClr val="1A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95360" y="4297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06D6A0"/>
                </a:solidFill>
                <a:latin typeface="Segoe UI"/>
              </a:rPr>
              <a:t>"Frontend actions are reflected correctly
in the PostgreSQL database."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28600" cy="67848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11521440" y="6492240"/>
            <a:ext cx="594360" cy="320040"/>
          </a:xfr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04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Innovation, Sustainability &amp; Utility to Society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40080"/>
            <a:ext cx="10515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365760" y="804672"/>
            <a:ext cx="3566160" cy="530352"/>
          </a:xfrm>
          <a:solidFill>
            <a:srgbClr val="1A2E44"/>
          </a:solidFill>
          <a:ln w="254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B703"/>
                </a:solidFill>
                <a:latin typeface="Segoe UI"/>
              </a:rPr>
              <a:t>💡  Innovation</a:t>
            </a:r>
          </a:p>
        </p:txBody>
      </p:sp>
      <p:sp>
        <p:nvSpPr>
          <p:cNvPr id="11" name="Rectangle 10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365760" y="1463040"/>
            <a:ext cx="3566160" cy="822960"/>
          </a:xfrm>
          <a:solidFill>
            <a:srgbClr val="1A2E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572768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Integrated web frontend with
relational PostgreSQL database</a:t>
            </a:r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365760" y="2432304"/>
            <a:ext cx="3566160" cy="822960"/>
          </a:xfrm>
          <a:solidFill>
            <a:srgbClr val="1A2E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54203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REST API–based communication
between layers</a:t>
            </a:r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365760" y="3401568"/>
            <a:ext cx="3566160" cy="822960"/>
          </a:xfrm>
          <a:solidFill>
            <a:srgbClr val="1A2E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511296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Real-time DB-backed post
and like operations</a:t>
            </a:r>
          </a:p>
        </p:txBody>
      </p:sp>
      <p:sp>
        <p:nvSpPr>
          <p:cNvPr id="17" name="Rectangle 16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365760" y="4370832"/>
            <a:ext cx="3566160" cy="822960"/>
          </a:xfrm>
          <a:solidFill>
            <a:srgbClr val="1A2E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480560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Structured relational model
for social interactions</a:t>
            </a:r>
          </a:p>
        </p:txBody>
      </p:sp>
      <p:sp>
        <p:nvSpPr>
          <p:cNvPr id="19" name="Rectangle 18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365760" y="5340096"/>
            <a:ext cx="3566160" cy="822960"/>
          </a:xfrm>
          <a:solidFill>
            <a:srgbClr val="1A2E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5449824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Extensible: auth, search,
notifications &amp; analytics</a:t>
            </a:r>
          </a:p>
        </p:txBody>
      </p:sp>
      <p:sp>
        <p:nvSpPr>
          <p:cNvPr id="21" name="Rectangle 20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4297680" y="804672"/>
            <a:ext cx="3566160" cy="530352"/>
          </a:xfrm>
          <a:solidFill>
            <a:srgbClr val="1A2E44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89611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  <a:latin typeface="Segoe UI"/>
              </a:rPr>
              <a:t>♻  Sustainability</a:t>
            </a:r>
          </a:p>
        </p:txBody>
      </p:sp>
      <p:sp>
        <p:nvSpPr>
          <p:cNvPr id="23" name="Rectangle 22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297680" y="1463040"/>
            <a:ext cx="3566160" cy="822960"/>
          </a:xfrm>
          <a:solidFill>
            <a:srgbClr val="1A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1572768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Reduces dependence on
physical communication</a:t>
            </a:r>
          </a:p>
        </p:txBody>
      </p:sp>
      <p:sp>
        <p:nvSpPr>
          <p:cNvPr id="25" name="Rectangle 24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297680" y="2432304"/>
            <a:ext cx="3566160" cy="822960"/>
          </a:xfrm>
          <a:solidFill>
            <a:srgbClr val="1A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254203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Centralised, structured
data management</a:t>
            </a:r>
          </a:p>
        </p:txBody>
      </p:sp>
      <p:sp>
        <p:nvSpPr>
          <p:cNvPr id="27" name="Rectangle 26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297680" y="3401568"/>
            <a:ext cx="3566160" cy="822960"/>
          </a:xfrm>
          <a:solidFill>
            <a:srgbClr val="1A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511296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Scalable PostgreSQL
database schema</a:t>
            </a:r>
          </a:p>
        </p:txBody>
      </p:sp>
      <p:sp>
        <p:nvSpPr>
          <p:cNvPr id="29" name="Rectangle 28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297680" y="4370832"/>
            <a:ext cx="3566160" cy="822960"/>
          </a:xfrm>
          <a:solidFill>
            <a:srgbClr val="1A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8" y="4480560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Modular architecture allows
future feature expansion</a:t>
            </a:r>
          </a:p>
        </p:txBody>
      </p:sp>
      <p:sp>
        <p:nvSpPr>
          <p:cNvPr id="31" name="Rectangle 30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297680" y="5340096"/>
            <a:ext cx="3566160" cy="822960"/>
          </a:xfrm>
          <a:solidFill>
            <a:srgbClr val="1A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8" y="5449824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Open-source stack — no
vendor lock-in</a:t>
            </a:r>
          </a:p>
        </p:txBody>
      </p:sp>
      <p:sp>
        <p:nvSpPr>
          <p:cNvPr id="33" name="Rectangle 32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8229600" y="804672"/>
            <a:ext cx="3566160" cy="530352"/>
          </a:xfrm>
          <a:solidFill>
            <a:srgbClr val="1A2E44"/>
          </a:solidFill>
          <a:ln w="254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89611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0E0EF"/>
                </a:solidFill>
                <a:latin typeface="Segoe UI"/>
              </a:rPr>
              <a:t>🌍  Utility to Society</a:t>
            </a:r>
          </a:p>
        </p:txBody>
      </p:sp>
      <p:sp>
        <p:nvSpPr>
          <p:cNvPr id="35" name="Rectangle 34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8229600" y="1463040"/>
            <a:ext cx="3566160" cy="822960"/>
          </a:xfrm>
          <a:solidFill>
            <a:srgbClr val="1A2E44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7" y="1572768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Platform for digital community
communication</a:t>
            </a:r>
          </a:p>
        </p:txBody>
      </p:sp>
      <p:sp>
        <p:nvSpPr>
          <p:cNvPr id="37" name="Rectangle 36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8229600" y="2432304"/>
            <a:ext cx="3566160" cy="822960"/>
          </a:xfrm>
          <a:solidFill>
            <a:srgbClr val="1A2E44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254203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Supports educational groups,
colleges &amp; organisations</a:t>
            </a:r>
          </a:p>
        </p:txBody>
      </p:sp>
      <p:sp>
        <p:nvSpPr>
          <p:cNvPr id="39" name="Rectangle 38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8229600" y="3401568"/>
            <a:ext cx="3566160" cy="822960"/>
          </a:xfrm>
          <a:solidFill>
            <a:srgbClr val="1A2E44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9327" y="3511296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Demonstrates structured,
secure data management</a:t>
            </a:r>
          </a:p>
        </p:txBody>
      </p:sp>
      <p:sp>
        <p:nvSpPr>
          <p:cNvPr id="41" name="Rectangle 40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8229600" y="4370832"/>
            <a:ext cx="3566160" cy="822960"/>
          </a:xfrm>
          <a:solidFill>
            <a:srgbClr val="1A2E44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4480560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DBMS concepts applied to
a real-world problem</a:t>
            </a:r>
          </a:p>
        </p:txBody>
      </p:sp>
      <p:sp>
        <p:nvSpPr>
          <p:cNvPr id="43" name="Rectangle 42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8229600" y="5340096"/>
            <a:ext cx="3566160" cy="822960"/>
          </a:xfrm>
          <a:solidFill>
            <a:srgbClr val="1A2E44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7" y="5449824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▸  Foundation for larger social
media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28600" cy="67848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11521440" y="6492240"/>
            <a:ext cx="594360" cy="320040"/>
          </a:xfr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05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Results, Conclusion &amp; Future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40080"/>
            <a:ext cx="9601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77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Segoe UI"/>
              </a:rPr>
              <a:t>✔ 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78992"/>
            <a:ext cx="411480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11480" y="1188720"/>
            <a:ext cx="4114800" cy="457200"/>
          </a:xfrm>
          <a:solidFill>
            <a:srgbClr val="1A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✓  SocialConnect successfully implemented</a:t>
            </a:r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11480" y="1719072"/>
            <a:ext cx="4114800" cy="457200"/>
          </a:xfrm>
          <a:solidFill>
            <a:srgbClr val="1A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1051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✓  Frontend connected to Flask backend</a:t>
            </a:r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11480" y="2249424"/>
            <a:ext cx="4114800" cy="457200"/>
          </a:xfrm>
          <a:solidFill>
            <a:srgbClr val="1A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34086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✓  Flask successfully connected to PostgreSQL</a:t>
            </a:r>
          </a:p>
        </p:txBody>
      </p:sp>
      <p:sp>
        <p:nvSpPr>
          <p:cNvPr id="17" name="Rectangle 16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11480" y="2779776"/>
            <a:ext cx="4114800" cy="457200"/>
          </a:xfrm>
          <a:solidFill>
            <a:srgbClr val="1A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87121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✓  CRUD-style database operations demonstrated</a:t>
            </a:r>
          </a:p>
        </p:txBody>
      </p:sp>
      <p:sp>
        <p:nvSpPr>
          <p:cNvPr id="19" name="Rectangle 18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11480" y="3310128"/>
            <a:ext cx="4114800" cy="457200"/>
          </a:xfrm>
          <a:solidFill>
            <a:srgbClr val="1A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4015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✓  Posts &amp; likes stored and retrieved correctly</a:t>
            </a:r>
          </a:p>
        </p:txBody>
      </p:sp>
      <p:sp>
        <p:nvSpPr>
          <p:cNvPr id="21" name="Rectangle 20"/>
          <p:cNvSpPr/>
          <p:nvPr/>
        </p:nvSpPr>
        <p:spPr>
          <a:prstGeom prst="roundRect">
            <a:avLst>
              <a:gd name="adj" fmla="val 2000"/>
            </a:avLst>
          </a:prstGeom>
          <a:xfrm>
            <a:off x="411480" y="3840480"/>
            <a:ext cx="4114800" cy="457200"/>
          </a:xfrm>
          <a:solidFill>
            <a:srgbClr val="1A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93192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✓  All DB relationships successfully implemented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7772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3"/>
                </a:solidFill>
                <a:latin typeface="Segoe UI"/>
              </a:rPr>
              <a:t>📌  Conclusion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1078992"/>
            <a:ext cx="393192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4754880" y="1188720"/>
            <a:ext cx="3931920" cy="1645920"/>
          </a:xfrm>
          <a:solidFill>
            <a:srgbClr val="1A2E44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1298448"/>
            <a:ext cx="3703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1">
                <a:solidFill>
                  <a:srgbClr val="FFFFFF"/>
                </a:solidFill>
                <a:latin typeface="Segoe UI"/>
              </a:rPr>
              <a:t>"SocialConnect demonstrates how DBMS concepts
can be integrated with modern web development
to build a functional, database-driven
social media application."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0632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  <a:latin typeface="Segoe UI"/>
              </a:rPr>
              <a:t>🚀  Future Scope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364992"/>
            <a:ext cx="393192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›  User authentication &amp; authorisation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›  Profile management &amp; avatars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389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›  Image / video upload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846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›  Real-time 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303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›  Search &amp; recommendation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760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›  Advanced analytics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6217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DD"/>
                </a:solidFill>
                <a:latin typeface="Segoe UI"/>
              </a:rPr>
              <a:t>›  Cloud deployment (AWS / GCP / Azure)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7772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  <a:latin typeface="Segoe UI"/>
              </a:rPr>
              <a:t>System Stack Recap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1078992"/>
            <a:ext cx="292608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8961120" y="1188720"/>
            <a:ext cx="2926080" cy="658368"/>
          </a:xfrm>
          <a:solidFill>
            <a:srgbClr val="1A2E44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135331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  <a:latin typeface="Segoe UI"/>
              </a:rPr>
              <a:t>HTML / CSS / 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184708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Segoe UI"/>
              </a:rPr>
              <a:t>↓</a:t>
            </a:r>
          </a:p>
        </p:txBody>
      </p:sp>
      <p:sp>
        <p:nvSpPr>
          <p:cNvPr id="41" name="Rectangle 40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8961120" y="2029968"/>
            <a:ext cx="2926080" cy="658368"/>
          </a:xfrm>
          <a:solidFill>
            <a:srgbClr val="1A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219456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Segoe UI"/>
              </a:rPr>
              <a:t>Flask  (Python)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68833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Segoe UI"/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8961120" y="2871216"/>
            <a:ext cx="2926080" cy="658368"/>
          </a:xfrm>
          <a:solidFill>
            <a:srgbClr val="1A2E44"/>
          </a:solidFill>
          <a:ln w="1905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40" y="30358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AD3DD"/>
                </a:solidFill>
                <a:latin typeface="Segoe UI"/>
              </a:rPr>
              <a:t>Psycopg2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352958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Segoe UI"/>
              </a:rPr>
              <a:t>↓</a:t>
            </a:r>
          </a:p>
        </p:txBody>
      </p:sp>
      <p:sp>
        <p:nvSpPr>
          <p:cNvPr id="47" name="Rectangle 46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8961120" y="3712464"/>
            <a:ext cx="2926080" cy="658368"/>
          </a:xfrm>
          <a:solidFill>
            <a:srgbClr val="1A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06840" y="387705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Segoe UI"/>
              </a:rPr>
              <a:t>PostgreSQL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78440" y="43708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Segoe UI"/>
              </a:rPr>
              <a:t>↓</a:t>
            </a:r>
          </a:p>
        </p:txBody>
      </p:sp>
      <p:sp>
        <p:nvSpPr>
          <p:cNvPr id="50" name="Rectangle 49"/>
          <p:cNvSpPr/>
          <p:nvPr/>
        </p:nvSpPr>
        <p:spPr>
          <a:prstGeom prst="roundRect">
            <a:avLst>
              <a:gd name="adj" fmla="val 2500"/>
            </a:avLst>
          </a:prstGeom>
          <a:xfrm>
            <a:off x="8961120" y="4553712"/>
            <a:ext cx="2926080" cy="658368"/>
          </a:xfrm>
          <a:solidFill>
            <a:srgbClr val="1A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471830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Segoe UI"/>
              </a:rPr>
              <a:t>social_media_db</a:t>
            </a:r>
          </a:p>
        </p:txBody>
      </p:sp>
      <p:sp>
        <p:nvSpPr>
          <p:cNvPr id="52" name="Rectangle 51"/>
          <p:cNvSpPr/>
          <p:nvPr/>
        </p:nvSpPr>
        <p:spPr>
          <a:prstGeom prst="roundRect">
            <a:avLst>
              <a:gd name="adj" fmla="val 3000"/>
            </a:avLst>
          </a:prstGeom>
          <a:xfrm>
            <a:off x="4754880" y="5989320"/>
            <a:ext cx="3931920" cy="658368"/>
          </a:xfrm>
          <a:solidFill>
            <a:srgbClr val="1A2E44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60533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  <a:latin typeface="Segoe UI"/>
              </a:rPr>
              <a:t>Thank You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63093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3DD"/>
                </a:solidFill>
                <a:latin typeface="Segoe UI"/>
              </a:rPr>
              <a:t>B.Tech CSE  ·  DBMS Project  ·  SocialConnect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