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27832" cy="685800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61120" y="0"/>
            <a:ext cx="64008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89720" y="502920"/>
            <a:ext cx="2743200" cy="59436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61264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7" name="Rectangle 6"/>
          <p:cNvSpPr/>
          <p:nvPr/>
        </p:nvSpPr>
        <p:spPr>
          <a:xfrm>
            <a:off x="9189720" y="1399032"/>
            <a:ext cx="2743200" cy="5943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0" y="150876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Node.js / Express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89720" y="2295144"/>
            <a:ext cx="2743200" cy="59436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0" y="240487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Redis Cache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89720" y="3191256"/>
            <a:ext cx="2743200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0" y="330098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MinIO / S3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9720" y="4087368"/>
            <a:ext cx="2743200" cy="5943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419709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JWT + bcrypt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4983480"/>
            <a:ext cx="2743200" cy="59436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509320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WebSocket 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8961120" cy="3200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28600"/>
            <a:ext cx="4114800" cy="45720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743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D8"/>
                </a:solidFill>
                <a:latin typeface="Calibri"/>
              </a:rPr>
              <a:t>Database Engineering &amp; Distributed Backend Development (DEDB)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804672"/>
            <a:ext cx="1828800" cy="38404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841248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PROJECT  REVIEW 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1371600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AI-Ready Social Media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1993392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D040"/>
                </a:solidFill>
                <a:latin typeface="Calibri"/>
              </a:rPr>
              <a:t>Database Management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274320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BBDEFB"/>
                </a:solidFill>
                <a:latin typeface="Calibri"/>
              </a:rPr>
              <a:t>DEDB Project — Review 3  |  Academic Year 2026–2027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246120"/>
            <a:ext cx="5029200" cy="45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3383280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FD8"/>
                </a:solidFill>
                <a:latin typeface="Calibri"/>
              </a:rPr>
              <a:t>TEAM MEMBERS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822192"/>
            <a:ext cx="64008" cy="2926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" y="3767328"/>
            <a:ext cx="4114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Remme Nivas   —   2510030125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297680"/>
            <a:ext cx="64008" cy="2926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4" y="4242816"/>
            <a:ext cx="4114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G. Abhi Chandra   —   2510030328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773168"/>
            <a:ext cx="64008" cy="2926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" y="4718304"/>
            <a:ext cx="4114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N. Jashwanth   —   2510030409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248656"/>
            <a:ext cx="64008" cy="2926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" y="5193792"/>
            <a:ext cx="4114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V. Karthik   —   2510030381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5715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D8"/>
                </a:solidFill>
                <a:latin typeface="Calibri"/>
              </a:rPr>
              <a:t>SUPERVISOR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01675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Dr. P. Lalitha Surya Kumari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5653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BDEFB"/>
                </a:solidFill>
                <a:latin typeface="Calibri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640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Problem Statement &amp; Proposed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0972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FFD040"/>
                </a:solidFill>
                <a:latin typeface="Calibr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6539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BDEFB"/>
                </a:solidFill>
                <a:latin typeface="Calibri"/>
              </a:rPr>
              <a:t>AI-Ready Social Media DBMS  |  DEDB Review 3  |  2026–2027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65392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BBDEFB"/>
                </a:solidFill>
                <a:latin typeface="Calibri"/>
              </a:rPr>
              <a:t>Supervisor: Dr. P. Lalitha Surya Kumari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" y="1207008"/>
            <a:ext cx="4160520" cy="5212080"/>
          </a:xfrm>
          <a:prstGeom prst="rect">
            <a:avLst/>
          </a:prstGeom>
          <a:solidFill>
            <a:srgbClr val="FFFFFF"/>
          </a:solidFill>
          <a:ln w="762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" y="1207008"/>
            <a:ext cx="4160520" cy="50292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12801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040"/>
                </a:solidFill>
                <a:latin typeface="Calibri"/>
              </a:rPr>
              <a:t>THE CHALLENGE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1801368"/>
            <a:ext cx="91440" cy="7772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181965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36B"/>
                </a:solidFill>
                <a:latin typeface="Calibri"/>
              </a:rPr>
              <a:t>Massive Interconnected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" y="216712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Billions of users, posts &amp; media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2715768"/>
            <a:ext cx="91440" cy="7772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" y="273405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36B"/>
                </a:solidFill>
                <a:latin typeface="Calibri"/>
              </a:rPr>
              <a:t>Redundancy &amp; Anomalies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" y="308152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Update/delete anomalies in schemas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3630168"/>
            <a:ext cx="91440" cy="7772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" y="364845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36B"/>
                </a:solidFill>
                <a:latin typeface="Calibri"/>
              </a:rPr>
              <a:t>Multimedia Storage Bloat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" y="399592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Media stored in relational DB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544568"/>
            <a:ext cx="91440" cy="7772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" y="456285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36B"/>
                </a:solidFill>
                <a:latin typeface="Calibri"/>
              </a:rPr>
              <a:t>Scalability Bottlenecks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" y="491032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Single-node reads under peak load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" y="5458968"/>
            <a:ext cx="91440" cy="7772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" y="547725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36B"/>
                </a:solidFill>
                <a:latin typeface="Calibri"/>
              </a:rPr>
              <a:t>Weak Authentication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" y="582472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Insecure credential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657600"/>
            <a:ext cx="5669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E88E5"/>
                </a:solidFill>
                <a:latin typeface="Calibri"/>
              </a:rPr>
              <a:t>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1207008"/>
            <a:ext cx="6858000" cy="621792"/>
          </a:xfrm>
          <a:prstGeom prst="rect">
            <a:avLst/>
          </a:prstGeom>
          <a:solidFill>
            <a:srgbClr val="222255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75504" y="1261872"/>
            <a:ext cx="6748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Client Applications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75504" y="1591056"/>
            <a:ext cx="6748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BDEFB"/>
                </a:solidFill>
                <a:latin typeface="Calibri"/>
              </a:rPr>
              <a:t>Web • Mobile • API Consumer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49640.0" y="1828800"/>
            <a:ext cx="0.0" cy="201168"/>
          </a:xfrm>
          <a:prstGeom prst="line">
            <a:avLst/>
          </a:prstGeom>
          <a:ln w="25400">
            <a:solidFill>
              <a:srgbClr val="1E8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120640" y="2029968"/>
            <a:ext cx="6858000" cy="621792"/>
          </a:xfrm>
          <a:prstGeom prst="rect">
            <a:avLst/>
          </a:prstGeom>
          <a:solidFill>
            <a:srgbClr val="00550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75504" y="2084832"/>
            <a:ext cx="6748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Nginx  —  Load Balancer / Reverse Proxy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75504" y="2414016"/>
            <a:ext cx="6748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BDEFB"/>
                </a:solidFill>
                <a:latin typeface="Calibri"/>
              </a:rPr>
              <a:t>SSL Termination  •  Rate Limiting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549640.0" y="2651760"/>
            <a:ext cx="0.0" cy="201168"/>
          </a:xfrm>
          <a:prstGeom prst="line">
            <a:avLst/>
          </a:prstGeom>
          <a:ln w="25400">
            <a:solidFill>
              <a:srgbClr val="1E8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5120640" y="2852928"/>
            <a:ext cx="6858000" cy="621792"/>
          </a:xfrm>
          <a:prstGeom prst="rect">
            <a:avLst/>
          </a:prstGeom>
          <a:solidFill>
            <a:srgbClr val="1B5E2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75504" y="2907792"/>
            <a:ext cx="6748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Node.js / Express  —  API Layer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75504" y="3236976"/>
            <a:ext cx="6748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BDEFB"/>
                </a:solidFill>
                <a:latin typeface="Calibri"/>
              </a:rPr>
              <a:t>REST  •  WebSocket  •  JWT Middleware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549640.0" y="3474720"/>
            <a:ext cx="0.0" cy="201168"/>
          </a:xfrm>
          <a:prstGeom prst="line">
            <a:avLst/>
          </a:prstGeom>
          <a:ln w="25400">
            <a:solidFill>
              <a:srgbClr val="1E8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120640" y="3675888"/>
            <a:ext cx="2103120" cy="1051560"/>
          </a:xfrm>
          <a:prstGeom prst="rect">
            <a:avLst/>
          </a:prstGeom>
          <a:solidFill>
            <a:srgbClr val="B71C1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75504" y="3730752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Redis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75504" y="4059936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BDEFB"/>
                </a:solidFill>
                <a:latin typeface="Calibri"/>
              </a:rPr>
              <a:t>Cache • Sessions • PubSub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52360" y="3675888"/>
            <a:ext cx="2103120" cy="1051560"/>
          </a:xfrm>
          <a:prstGeom prst="rect">
            <a:avLst/>
          </a:prstGeom>
          <a:solidFill>
            <a:srgbClr val="0D47A1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07224" y="3730752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07224" y="4059936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BDEFB"/>
                </a:solidFill>
                <a:latin typeface="Calibri"/>
              </a:rPr>
              <a:t>3NF DB • ACID • 14 Tables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84080" y="3675888"/>
            <a:ext cx="2103120" cy="1051560"/>
          </a:xfrm>
          <a:prstGeom prst="rect">
            <a:avLst/>
          </a:prstGeom>
          <a:solidFill>
            <a:srgbClr val="004D7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38944" y="3730752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MinIO / S3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38944" y="4059936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BDEFB"/>
                </a:solidFill>
                <a:latin typeface="Calibri"/>
              </a:rPr>
              <a:t>Images • Videos • URLs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607040" y="2852928"/>
            <a:ext cx="1280160" cy="621792"/>
          </a:xfrm>
          <a:prstGeom prst="rect">
            <a:avLst/>
          </a:prstGeom>
          <a:solidFill>
            <a:srgbClr val="4A008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625328" y="2926080"/>
            <a:ext cx="1243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JWT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25328" y="3108960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DEFB"/>
                </a:solidFill>
                <a:latin typeface="Calibri"/>
              </a:rPr>
              <a:t>bcrypt
Auth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640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Novelty &amp; Adaptability of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BDEFB"/>
                </a:solidFill>
                <a:latin typeface="Calibri"/>
              </a:rPr>
              <a:t>What is new  •  How it scales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0972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FFD040"/>
                </a:solidFill>
                <a:latin typeface="Calibri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56539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BDEFB"/>
                </a:solidFill>
                <a:latin typeface="Calibri"/>
              </a:rPr>
              <a:t>AI-Ready Social Media DBMS  |  DEDB Review 3  |  2026–2027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565392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BBDEFB"/>
                </a:solidFill>
                <a:latin typeface="Calibri"/>
              </a:rPr>
              <a:t>Supervisor: Dr. P. Lalitha Surya Kumari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1207008"/>
            <a:ext cx="11786616" cy="402336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125272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040"/>
                </a:solidFill>
                <a:latin typeface="Calibri"/>
              </a:rPr>
              <a:t>NOVELTY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1609344"/>
            <a:ext cx="2953512" cy="38404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" y="1645920"/>
            <a:ext cx="2862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Existing Approach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609344"/>
            <a:ext cx="2971800" cy="384048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645920"/>
            <a:ext cx="2880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Limitation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609344"/>
            <a:ext cx="2926080" cy="38404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645920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Our Methodology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1609344"/>
            <a:ext cx="283464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645920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Novel Contribution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1993392"/>
            <a:ext cx="11786616" cy="475488"/>
          </a:xfrm>
          <a:prstGeom prst="rect">
            <a:avLst/>
          </a:prstGeom>
          <a:solidFill>
            <a:srgbClr val="E8F0FE"/>
          </a:solidFill>
          <a:ln w="381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" y="2066544"/>
            <a:ext cx="2862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33333"/>
                </a:solidFill>
                <a:latin typeface="Calibri"/>
              </a:rPr>
              <a:t>Denormalized schema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00984" y="2066544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33333"/>
                </a:solidFill>
                <a:latin typeface="Calibri"/>
              </a:rPr>
              <a:t>Redundancy &amp; anomalies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2066544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336B"/>
                </a:solidFill>
                <a:latin typeface="Calibri"/>
              </a:rPr>
              <a:t>3NF — 14 core tables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744" y="206654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5E20"/>
                </a:solidFill>
                <a:latin typeface="Calibri"/>
              </a:rPr>
              <a:t>Zero redundancy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" y="2487168"/>
            <a:ext cx="11786616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" y="2560320"/>
            <a:ext cx="2862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33333"/>
                </a:solidFill>
                <a:latin typeface="Calibri"/>
              </a:rPr>
              <a:t>Media in RDBMS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00984" y="2560320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33333"/>
                </a:solidFill>
                <a:latin typeface="Calibri"/>
              </a:rPr>
              <a:t>Storage bloat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25603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336B"/>
                </a:solidFill>
                <a:latin typeface="Calibri"/>
              </a:rPr>
              <a:t>MinIO/S3 + URL reference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81744" y="25603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5E20"/>
                </a:solidFill>
                <a:latin typeface="Calibri"/>
              </a:rPr>
              <a:t>Decoupled media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1168" y="2980944"/>
            <a:ext cx="11786616" cy="475488"/>
          </a:xfrm>
          <a:prstGeom prst="rect">
            <a:avLst/>
          </a:prstGeom>
          <a:solidFill>
            <a:srgbClr val="E8F0FE"/>
          </a:solidFill>
          <a:ln w="381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" y="3054096"/>
            <a:ext cx="2862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33333"/>
                </a:solidFill>
                <a:latin typeface="Calibri"/>
              </a:rPr>
              <a:t>Basic auth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00984" y="3054096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33333"/>
                </a:solidFill>
                <a:latin typeface="Calibri"/>
              </a:rPr>
              <a:t>Security gaps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4224" y="305409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336B"/>
                </a:solidFill>
                <a:latin typeface="Calibri"/>
              </a:rPr>
              <a:t>JWT + bcrypt + constraints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81744" y="305409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5E20"/>
                </a:solidFill>
                <a:latin typeface="Calibri"/>
              </a:rPr>
              <a:t>Multi-layer security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1168" y="3474720"/>
            <a:ext cx="11786616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032" y="3547872"/>
            <a:ext cx="2862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33333"/>
                </a:solidFill>
                <a:latin typeface="Calibri"/>
              </a:rPr>
              <a:t>Keyword search only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00984" y="3547872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33333"/>
                </a:solidFill>
                <a:latin typeface="Calibri"/>
              </a:rPr>
              <a:t>No AI personalisation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4224" y="354787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336B"/>
                </a:solidFill>
                <a:latin typeface="Calibri"/>
              </a:rPr>
              <a:t>PgVector-ready schema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81744" y="35478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5E20"/>
                </a:solidFill>
                <a:latin typeface="Calibri"/>
              </a:rPr>
              <a:t>AI built in from day 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1168" y="4059936"/>
            <a:ext cx="11786616" cy="402336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8" y="4105656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040"/>
                </a:solidFill>
                <a:latin typeface="Calibri"/>
              </a:rPr>
              <a:t>ADAPTABILITY  —  Evolution Path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1168" y="4480560"/>
            <a:ext cx="1828800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1168" y="451713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Current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1168" y="4773168"/>
            <a:ext cx="1828800" cy="530352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1168" y="4791456"/>
            <a:ext cx="1828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Base
System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" y="5303520"/>
            <a:ext cx="182880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3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7744" y="5321808"/>
            <a:ext cx="175564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36B"/>
                </a:solidFill>
                <a:latin typeface="Calibri"/>
              </a:rPr>
              <a:t>PostgreSQL
Node.js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48256" y="519379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88E5"/>
                </a:solidFill>
                <a:latin typeface="Calibri"/>
              </a:rPr>
              <a:t>▶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39696" y="4480560"/>
            <a:ext cx="1828800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39696" y="451713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Current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39696" y="4773168"/>
            <a:ext cx="1828800" cy="5303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139696" y="4791456"/>
            <a:ext cx="1828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More
Users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39696" y="5303520"/>
            <a:ext cx="182880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76272" y="5321808"/>
            <a:ext cx="175564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36B"/>
                </a:solidFill>
                <a:latin typeface="Calibri"/>
              </a:rPr>
              <a:t>Redis
Cache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86784" y="519379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88E5"/>
                </a:solidFill>
                <a:latin typeface="Calibri"/>
              </a:rPr>
              <a:t>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78224" y="4480560"/>
            <a:ext cx="1828800" cy="292608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78224" y="451713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Planned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78224" y="4773168"/>
            <a:ext cx="1828800" cy="530352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78224" y="4791456"/>
            <a:ext cx="1828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More
Reads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78224" y="5303520"/>
            <a:ext cx="182880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00B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0" y="5321808"/>
            <a:ext cx="175564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36B"/>
                </a:solidFill>
                <a:latin typeface="Calibri"/>
              </a:rPr>
              <a:t>Read
Replicas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25312" y="519379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88E5"/>
                </a:solidFill>
                <a:latin typeface="Calibri"/>
              </a:rPr>
              <a:t>▶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16752" y="4480560"/>
            <a:ext cx="1828800" cy="292608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016752" y="451713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Planned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16752" y="4773168"/>
            <a:ext cx="1828800" cy="5303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16752" y="4791456"/>
            <a:ext cx="1828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More
Media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16752" y="5303520"/>
            <a:ext cx="182880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053328" y="5321808"/>
            <a:ext cx="175564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36B"/>
                </a:solidFill>
                <a:latin typeface="Calibri"/>
              </a:rPr>
              <a:t>MinIO
S3 / CDN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63840" y="519379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88E5"/>
                </a:solidFill>
                <a:latin typeface="Calibri"/>
              </a:rPr>
              <a:t>▶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55280" y="4480560"/>
            <a:ext cx="1828800" cy="292608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955280" y="451713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Planned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955280" y="4773168"/>
            <a:ext cx="1828800" cy="53035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55280" y="4791456"/>
            <a:ext cx="1828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Real
Time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955280" y="5303520"/>
            <a:ext cx="182880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991856" y="5321808"/>
            <a:ext cx="175564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36B"/>
                </a:solidFill>
                <a:latin typeface="Calibri"/>
              </a:rPr>
              <a:t>Apache
Kafka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802368" y="519379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88E5"/>
                </a:solidFill>
                <a:latin typeface="Calibri"/>
              </a:rPr>
              <a:t>▶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893808" y="4480560"/>
            <a:ext cx="1828800" cy="29260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893808" y="451713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Future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893808" y="4773168"/>
            <a:ext cx="1828800" cy="53035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893808" y="4791456"/>
            <a:ext cx="1828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Semantic
AI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893808" y="5303520"/>
            <a:ext cx="182880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930384" y="5321808"/>
            <a:ext cx="175564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36B"/>
                </a:solidFill>
                <a:latin typeface="Calibri"/>
              </a:rPr>
              <a:t>PgVector
Embeddings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1168" y="6455664"/>
            <a:ext cx="11786616" cy="27432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57200" y="6501384"/>
            <a:ext cx="201168" cy="182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13232" y="6492240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CURRENT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297680" y="6501384"/>
            <a:ext cx="201168" cy="18288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53712" y="6492240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PLANNED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138160" y="6501384"/>
            <a:ext cx="201168" cy="1828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394192" y="6492240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FUTURE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640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Methodology Evaluation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BDEFB"/>
                </a:solidFill>
                <a:latin typeface="Calibri"/>
              </a:rPr>
              <a:t>Evaluation Component 3  —  No fabricated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0972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FFD040"/>
                </a:solidFill>
                <a:latin typeface="Calibri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56539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BDEFB"/>
                </a:solidFill>
                <a:latin typeface="Calibri"/>
              </a:rPr>
              <a:t>AI-Ready Social Media DBMS  |  DEDB Review 3  |  2026–2027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565392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BBDEFB"/>
                </a:solidFill>
                <a:latin typeface="Calibri"/>
              </a:rPr>
              <a:t>Supervisor: Dr. P. Lalitha Surya Kumari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1207008"/>
            <a:ext cx="11786616" cy="47548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" y="1298448"/>
            <a:ext cx="2404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040"/>
                </a:solidFill>
                <a:latin typeface="Calibri"/>
              </a:rPr>
              <a:t>Parameter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298448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040"/>
                </a:solidFill>
                <a:latin typeface="Calibri"/>
              </a:rPr>
              <a:t>Evaluation 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298448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040"/>
                </a:solidFill>
                <a:latin typeface="Calibri"/>
              </a:rPr>
              <a:t>Tools / Standard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1298448"/>
            <a:ext cx="2761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040"/>
                </a:solidFill>
                <a:latin typeface="Calibri"/>
              </a:rPr>
              <a:t>Status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1682496"/>
            <a:ext cx="11786616" cy="676656"/>
          </a:xfrm>
          <a:prstGeom prst="rect">
            <a:avLst/>
          </a:prstGeom>
          <a:solidFill>
            <a:srgbClr val="E8F0FE"/>
          </a:solidFill>
          <a:ln w="381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1810512"/>
            <a:ext cx="2386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336B"/>
                </a:solidFill>
                <a:latin typeface="Calibri"/>
              </a:rPr>
              <a:t>Data Integrity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2072" y="1810512"/>
            <a:ext cx="2999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"/>
              </a:rPr>
              <a:t>PK / FK constraint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62472" y="1810512"/>
            <a:ext cx="3044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"/>
              </a:rPr>
              <a:t>PostgreSQL constraints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64040" y="1847088"/>
            <a:ext cx="2194560" cy="329184"/>
          </a:xfrm>
          <a:prstGeom prst="rect">
            <a:avLst/>
          </a:prstGeom>
          <a:solidFill>
            <a:srgbClr val="FFE0B2"/>
          </a:solidFill>
          <a:ln w="127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186537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5C00"/>
                </a:solidFill>
                <a:latin typeface="Calibri"/>
              </a:rPr>
              <a:t>PLANNED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2359152"/>
            <a:ext cx="11786616" cy="676656"/>
          </a:xfrm>
          <a:prstGeom prst="rect">
            <a:avLst/>
          </a:prstGeom>
          <a:solidFill>
            <a:srgbClr val="FFFFFF"/>
          </a:solidFill>
          <a:ln w="381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2487168"/>
            <a:ext cx="2386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336B"/>
                </a:solidFill>
                <a:latin typeface="Calibri"/>
              </a:rPr>
              <a:t>Normalization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62072" y="2487168"/>
            <a:ext cx="2999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"/>
              </a:rPr>
              <a:t>Verify 1NF → 2NF → 3NF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62472" y="2487168"/>
            <a:ext cx="3044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"/>
              </a:rPr>
              <a:t>Dependency analysis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64040" y="2523744"/>
            <a:ext cx="2194560" cy="329184"/>
          </a:xfrm>
          <a:prstGeom prst="rect">
            <a:avLst/>
          </a:prstGeom>
          <a:solidFill>
            <a:srgbClr val="C8E6C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64040" y="254203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7D32"/>
                </a:solidFill>
                <a:latin typeface="Calibri"/>
              </a:rPr>
              <a:t>DESIGNED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" y="3035808"/>
            <a:ext cx="11786616" cy="676656"/>
          </a:xfrm>
          <a:prstGeom prst="rect">
            <a:avLst/>
          </a:prstGeom>
          <a:solidFill>
            <a:srgbClr val="E8F0FE"/>
          </a:solidFill>
          <a:ln w="381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3163824"/>
            <a:ext cx="2386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336B"/>
                </a:solidFill>
                <a:latin typeface="Calibri"/>
              </a:rPr>
              <a:t>Query Performance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62072" y="3163824"/>
            <a:ext cx="2999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"/>
              </a:rPr>
              <a:t>SQL execution-time profiling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62472" y="3163824"/>
            <a:ext cx="3044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"/>
              </a:rPr>
              <a:t>EXPLAIN ANALYSE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64040" y="3200400"/>
            <a:ext cx="2194560" cy="329184"/>
          </a:xfrm>
          <a:prstGeom prst="rect">
            <a:avLst/>
          </a:prstGeom>
          <a:solidFill>
            <a:srgbClr val="FFE0B2"/>
          </a:solidFill>
          <a:ln w="127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64040" y="321868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5C00"/>
                </a:solidFill>
                <a:latin typeface="Calibri"/>
              </a:rPr>
              <a:t>PLANNED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3712464"/>
            <a:ext cx="11786616" cy="676656"/>
          </a:xfrm>
          <a:prstGeom prst="rect">
            <a:avLst/>
          </a:prstGeom>
          <a:solidFill>
            <a:srgbClr val="FFFFFF"/>
          </a:solidFill>
          <a:ln w="381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3840480"/>
            <a:ext cx="2386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336B"/>
                </a:solidFill>
                <a:latin typeface="Calibri"/>
              </a:rPr>
              <a:t>Cache Efficiency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62072" y="3840480"/>
            <a:ext cx="2999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"/>
              </a:rPr>
              <a:t>Redis hit / miss ratio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62472" y="3840480"/>
            <a:ext cx="3044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"/>
              </a:rPr>
              <a:t>Redis INFO stats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64040" y="3877056"/>
            <a:ext cx="2194560" cy="329184"/>
          </a:xfrm>
          <a:prstGeom prst="rect">
            <a:avLst/>
          </a:prstGeom>
          <a:solidFill>
            <a:srgbClr val="FFE0B2"/>
          </a:solidFill>
          <a:ln w="127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389534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5C00"/>
                </a:solidFill>
                <a:latin typeface="Calibri"/>
              </a:rPr>
              <a:t>PLANNED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1168" y="4389120"/>
            <a:ext cx="11786616" cy="676656"/>
          </a:xfrm>
          <a:prstGeom prst="rect">
            <a:avLst/>
          </a:prstGeom>
          <a:solidFill>
            <a:srgbClr val="E8F0FE"/>
          </a:solidFill>
          <a:ln w="381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4517136"/>
            <a:ext cx="2386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336B"/>
                </a:solidFill>
                <a:latin typeface="Calibri"/>
              </a:rPr>
              <a:t>Security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62072" y="4517136"/>
            <a:ext cx="2999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"/>
              </a:rPr>
              <a:t>Auth &amp; access control tests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62472" y="4517136"/>
            <a:ext cx="3044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"/>
              </a:rPr>
              <a:t>JWT + bcrypt tests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64040" y="4553712"/>
            <a:ext cx="2194560" cy="329184"/>
          </a:xfrm>
          <a:prstGeom prst="rect">
            <a:avLst/>
          </a:prstGeom>
          <a:solidFill>
            <a:srgbClr val="FFE0B2"/>
          </a:solidFill>
          <a:ln w="127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64040" y="45720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5C00"/>
                </a:solidFill>
                <a:latin typeface="Calibri"/>
              </a:rPr>
              <a:t>PLANNED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1168" y="5065776"/>
            <a:ext cx="11786616" cy="676656"/>
          </a:xfrm>
          <a:prstGeom prst="rect">
            <a:avLst/>
          </a:prstGeom>
          <a:solidFill>
            <a:srgbClr val="FFFFFF"/>
          </a:solidFill>
          <a:ln w="381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5193792"/>
            <a:ext cx="2386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336B"/>
                </a:solidFill>
                <a:latin typeface="Calibri"/>
              </a:rPr>
              <a:t>Scalability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62072" y="5193792"/>
            <a:ext cx="2999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"/>
              </a:rPr>
              <a:t>Concurrent load simulation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62472" y="5193792"/>
            <a:ext cx="3044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"/>
              </a:rPr>
              <a:t>Apache JMeter / k6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464040" y="5230368"/>
            <a:ext cx="2194560" cy="329184"/>
          </a:xfrm>
          <a:prstGeom prst="rect">
            <a:avLst/>
          </a:prstGeom>
          <a:solidFill>
            <a:srgbClr val="FFE0B2"/>
          </a:solidFill>
          <a:ln w="127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64040" y="524865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5C00"/>
                </a:solidFill>
                <a:latin typeface="Calibri"/>
              </a:rPr>
              <a:t>PLANNED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1168" y="5742432"/>
            <a:ext cx="11786616" cy="676656"/>
          </a:xfrm>
          <a:prstGeom prst="rect">
            <a:avLst/>
          </a:prstGeom>
          <a:solidFill>
            <a:srgbClr val="E8F0FE"/>
          </a:solidFill>
          <a:ln w="381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5870448"/>
            <a:ext cx="2386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336B"/>
                </a:solidFill>
                <a:latin typeface="Calibri"/>
              </a:rPr>
              <a:t>Storage Efficiency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62072" y="5870448"/>
            <a:ext cx="2999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"/>
              </a:rPr>
              <a:t>DB vs. MinIO/S3 footprint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62472" y="5870448"/>
            <a:ext cx="3044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"/>
              </a:rPr>
              <a:t>Storage metrics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64040" y="5907024"/>
            <a:ext cx="2194560" cy="329184"/>
          </a:xfrm>
          <a:prstGeom prst="rect">
            <a:avLst/>
          </a:prstGeom>
          <a:solidFill>
            <a:srgbClr val="FFE0B2"/>
          </a:solidFill>
          <a:ln w="127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64040" y="592531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5C00"/>
                </a:solidFill>
                <a:latin typeface="Calibri"/>
              </a:rPr>
              <a:t>PLANNED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1168" y="6217920"/>
            <a:ext cx="11786616" cy="27432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2608" y="6245352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040"/>
                </a:solidFill>
                <a:latin typeface="Calibri"/>
              </a:rPr>
              <a:t>Evaluation results will be updated after implementation and testing.   No benchmark figures are fabricated.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640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Dissemination, Accessibility &amp; Implementation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BDEFB"/>
                </a:solidFill>
                <a:latin typeface="Calibri"/>
              </a:rPr>
              <a:t>Evaluation Component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0972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FFD040"/>
                </a:solidFill>
                <a:latin typeface="Calibr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56539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BDEFB"/>
                </a:solidFill>
                <a:latin typeface="Calibri"/>
              </a:rPr>
              <a:t>AI-Ready Social Media DBMS  |  DEDB Review 3  |  2026–2027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565392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BBDEFB"/>
                </a:solidFill>
                <a:latin typeface="Calibri"/>
              </a:rPr>
              <a:t>Supervisor: Dr. P. Lalitha Surya Kumari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1207008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1168" y="1207008"/>
            <a:ext cx="5486400" cy="475488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12801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040"/>
                </a:solidFill>
                <a:latin typeface="Calibri"/>
              </a:rPr>
              <a:t>DISSEMINATION &amp; ACCESSIBILITY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1755648"/>
            <a:ext cx="502920" cy="64008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" y="188366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177393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336B"/>
                </a:solidFill>
                <a:latin typeface="Calibri"/>
              </a:rPr>
              <a:t>Source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066544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GitHub Repository  (URL — To Be Added)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2532888"/>
            <a:ext cx="502920" cy="64008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" y="266090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55117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336B"/>
                </a:solidFill>
                <a:latin typeface="Calibri"/>
              </a:rPr>
              <a:t>DB Artefacts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843784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ER Diagram  •  3NF Proof  •  Schema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3310128"/>
            <a:ext cx="502920" cy="64008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" y="343814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32841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336B"/>
                </a:solidFill>
                <a:latin typeface="Calibri"/>
              </a:rPr>
              <a:t>Documentation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621024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System Design  •  Setup Guide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" y="4087368"/>
            <a:ext cx="502920" cy="64008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" y="421538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10565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336B"/>
                </a:solidFill>
                <a:latin typeface="Calibri"/>
              </a:rPr>
              <a:t>API Reference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398264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REST Endpoints  •  Auth Guide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4864608"/>
            <a:ext cx="502920" cy="64008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" y="499262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88289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336B"/>
                </a:solidFill>
                <a:latin typeface="Calibri"/>
              </a:rPr>
              <a:t>Demonstration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175504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CRUD Walkthrough  •  Auth Demo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5641848"/>
            <a:ext cx="502920" cy="64008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032" y="576986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66013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336B"/>
                </a:solidFill>
                <a:latin typeface="Calibri"/>
              </a:rPr>
              <a:t>Access 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952744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Role-Based  •  JWT Lifecycle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97880" y="1207008"/>
            <a:ext cx="608076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7880" y="1207008"/>
            <a:ext cx="6080760" cy="475488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89320" y="128016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040"/>
                </a:solidFill>
                <a:latin typeface="Calibri"/>
              </a:rPr>
              <a:t>IMPLEMENTATION PROGRESS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89320" y="1755648"/>
            <a:ext cx="58978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0" y="178308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✅  COMPLETED / DESIGNED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2258568"/>
            <a:ext cx="182880" cy="182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81928" y="2167128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3NF Database Architecture  (14 tables)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2715768"/>
            <a:ext cx="182880" cy="182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81928" y="2624328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ER Diagram &amp; Relationships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3172967"/>
            <a:ext cx="182880" cy="182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81928" y="3081527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System &amp; Security Architecture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3630168"/>
            <a:ext cx="182880" cy="182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81928" y="3538728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SQL Query Design &amp; Normalisation Proofs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89320" y="4041648"/>
            <a:ext cx="5897880" cy="34747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35040" y="406908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🔄  IMPLEMENTATION IN PROGRESS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5040" y="4544568"/>
            <a:ext cx="182880" cy="18288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81928" y="4453128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PostgreSQL Schema  •  Node.js APIs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35040" y="5001768"/>
            <a:ext cx="182880" cy="18288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81928" y="4910328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Redis  •  MinIO/S3 Integration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5458968"/>
            <a:ext cx="182880" cy="18288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81928" y="5367528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JWT Auth  •  Testing &amp; Benchmarking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60720" y="1207008"/>
            <a:ext cx="18288" cy="521208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640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Future Scope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0972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FFD040"/>
                </a:solidFill>
                <a:latin typeface="Calibri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6539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BDEFB"/>
                </a:solidFill>
                <a:latin typeface="Calibri"/>
              </a:rPr>
              <a:t>AI-Ready Social Media DBMS  |  DEDB Review 3  |  2026–2027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65392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BBDEFB"/>
                </a:solidFill>
                <a:latin typeface="Calibri"/>
              </a:rPr>
              <a:t>Supervisor: Dr. P. Lalitha Surya Kumari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" y="1207008"/>
            <a:ext cx="571500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" y="1207008"/>
            <a:ext cx="5715000" cy="47548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12801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FUTURE SCOPE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1773936"/>
            <a:ext cx="91440" cy="56692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179222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A1B9A"/>
                </a:solidFill>
                <a:latin typeface="Calibri"/>
              </a:rPr>
              <a:t>PgVector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" y="208483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Semantic search &amp; AI recommendations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2423160"/>
            <a:ext cx="91440" cy="56692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" y="2441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A1B9A"/>
                </a:solidFill>
                <a:latin typeface="Calibri"/>
              </a:rPr>
              <a:t>Apache Kafka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" y="273405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Real-time event streaming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3072384"/>
            <a:ext cx="91440" cy="56692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" y="309067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A1B9A"/>
                </a:solidFill>
                <a:latin typeface="Calibri"/>
              </a:rPr>
              <a:t>Graph / Hybrid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" y="338328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Complex social graph analytics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3721608"/>
            <a:ext cx="91440" cy="56692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" y="373989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A1B9A"/>
                </a:solidFill>
                <a:latin typeface="Calibri"/>
              </a:rPr>
              <a:t>Load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" y="403250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Performance at scale — JMeter / k6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" y="4370832"/>
            <a:ext cx="91440" cy="56692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" y="43891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A1B9A"/>
                </a:solidFill>
                <a:latin typeface="Calibri"/>
              </a:rPr>
              <a:t>High Availability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" y="46817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Failover &amp; replication setup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5020056"/>
            <a:ext cx="91440" cy="56692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" y="503834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A1B9A"/>
                </a:solidFill>
                <a:latin typeface="Calibri"/>
              </a:rPr>
              <a:t>Security Testing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" y="533095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Penetration &amp; access-control audit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1207008"/>
            <a:ext cx="585216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1207008"/>
            <a:ext cx="5852160" cy="47548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1280160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6208" y="1883664"/>
            <a:ext cx="182880" cy="1828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1773936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Designed a normalised 3NF social media DB
(14 relational tables, zero redundancy).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36208" y="2651760"/>
            <a:ext cx="182880" cy="1828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2542032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Modular architecture: PostgreSQL + Redis
+ MinIO/S3 + Node.js + JWT security.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36208" y="3419856"/>
            <a:ext cx="182880" cy="1828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3310128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AI-ready foundation via PgVector-compatible
schema design.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36208" y="4187952"/>
            <a:ext cx="182880" cy="1828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4078224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Evaluation framework defined; testing and
benchmarking are in progress.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6208" y="4956048"/>
            <a:ext cx="182880" cy="1828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48463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Modular design allows independent scaling
at every layer.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806440"/>
            <a:ext cx="11786616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1168" y="5852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D040"/>
                </a:solidFill>
                <a:latin typeface="Calibri"/>
              </a:rPr>
              <a:t>THANK YOU  —  QUESTIONS &amp; ANSWERS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592531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BBDEFB"/>
                </a:solidFill>
                <a:latin typeface="Calibri"/>
              </a:rPr>
              <a:t>Dr. P. Lalitha Surya Kumari
DEDB Review 3  |  2026–2027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