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3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A8B7DB7F-36FA-A300-98DD-093FFE4DBBB3}"/>
    <pc:docChg chg="modSld">
      <pc:chgData name="Guest User" userId="" providerId="Windows Live" clId="Web-{A8B7DB7F-36FA-A300-98DD-093FFE4DBBB3}" dt="2026-08-19T09:02:15.119" v="0" actId="1076"/>
      <pc:docMkLst>
        <pc:docMk/>
      </pc:docMkLst>
      <pc:sldChg chg="modSp">
        <pc:chgData name="Guest User" userId="" providerId="Windows Live" clId="Web-{A8B7DB7F-36FA-A300-98DD-093FFE4DBBB3}" dt="2026-08-19T09:02:15.119" v="0" actId="1076"/>
        <pc:sldMkLst>
          <pc:docMk/>
          <pc:sldMk cId="0" sldId="259"/>
        </pc:sldMkLst>
        <pc:spChg chg="mod">
          <ac:chgData name="Guest User" userId="" providerId="Windows Live" clId="Web-{A8B7DB7F-36FA-A300-98DD-093FFE4DBBB3}" dt="2026-08-19T09:02:15.119" v="0" actId="1076"/>
          <ac:spMkLst>
            <pc:docMk/>
            <pc:sldMk cId="0" sldId="259"/>
            <ac:spMk id="16" creationId="{00000000-0000-0000-0000-000000000000}"/>
          </ac:spMkLst>
        </pc:spChg>
      </pc:sldChg>
    </pc:docChg>
  </pc:docChgLst>
  <pc:docChgLst>
    <pc:chgData name="remme nivas" userId="8f4ec6e876cded2a" providerId="LiveId" clId="{39B59E1F-D3FE-4BC7-A50B-F4120D14B4B0}"/>
    <pc:docChg chg="undo custSel delSld modSld sldOrd">
      <pc:chgData name="remme nivas" userId="8f4ec6e876cded2a" providerId="LiveId" clId="{39B59E1F-D3FE-4BC7-A50B-F4120D14B4B0}" dt="2026-08-24T15:53:43.537" v="99" actId="1076"/>
      <pc:docMkLst>
        <pc:docMk/>
      </pc:docMkLst>
      <pc:sldChg chg="modSp mod">
        <pc:chgData name="remme nivas" userId="8f4ec6e876cded2a" providerId="LiveId" clId="{39B59E1F-D3FE-4BC7-A50B-F4120D14B4B0}" dt="2026-08-19T03:22:50.967" v="5" actId="947"/>
        <pc:sldMkLst>
          <pc:docMk/>
          <pc:sldMk cId="0" sldId="257"/>
        </pc:sldMkLst>
        <pc:graphicFrameChg chg="mod modGraphic">
          <ac:chgData name="remme nivas" userId="8f4ec6e876cded2a" providerId="LiveId" clId="{39B59E1F-D3FE-4BC7-A50B-F4120D14B4B0}" dt="2026-08-19T03:22:50.967" v="5" actId="947"/>
          <ac:graphicFrameMkLst>
            <pc:docMk/>
            <pc:sldMk cId="0" sldId="257"/>
            <ac:graphicFrameMk id="8" creationId="{00000000-0000-0000-0000-000000000000}"/>
          </ac:graphicFrameMkLst>
        </pc:graphicFrameChg>
      </pc:sldChg>
      <pc:sldChg chg="modSp mod">
        <pc:chgData name="remme nivas" userId="8f4ec6e876cded2a" providerId="LiveId" clId="{39B59E1F-D3FE-4BC7-A50B-F4120D14B4B0}" dt="2026-08-19T03:23:18.106" v="7" actId="947"/>
        <pc:sldMkLst>
          <pc:docMk/>
          <pc:sldMk cId="0" sldId="258"/>
        </pc:sldMkLst>
        <pc:graphicFrameChg chg="modGraphic">
          <ac:chgData name="remme nivas" userId="8f4ec6e876cded2a" providerId="LiveId" clId="{39B59E1F-D3FE-4BC7-A50B-F4120D14B4B0}" dt="2026-08-19T03:23:18.106" v="7" actId="947"/>
          <ac:graphicFrameMkLst>
            <pc:docMk/>
            <pc:sldMk cId="0" sldId="258"/>
            <ac:graphicFrameMk id="8" creationId="{00000000-0000-0000-0000-000000000000}"/>
          </ac:graphicFrameMkLst>
        </pc:graphicFrameChg>
      </pc:sldChg>
      <pc:sldChg chg="modSp mod">
        <pc:chgData name="remme nivas" userId="8f4ec6e876cded2a" providerId="LiveId" clId="{39B59E1F-D3FE-4BC7-A50B-F4120D14B4B0}" dt="2026-08-24T15:45:00.914" v="93" actId="1036"/>
        <pc:sldMkLst>
          <pc:docMk/>
          <pc:sldMk cId="0" sldId="259"/>
        </pc:sldMkLst>
        <pc:spChg chg="mod">
          <ac:chgData name="remme nivas" userId="8f4ec6e876cded2a" providerId="LiveId" clId="{39B59E1F-D3FE-4BC7-A50B-F4120D14B4B0}" dt="2026-08-19T10:04:24.642" v="91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4:00.574" v="8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4:09.834" v="9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4:51.822" v="12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4:35.424" v="10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4:43.625" v="11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emme nivas" userId="8f4ec6e876cded2a" providerId="LiveId" clId="{39B59E1F-D3FE-4BC7-A50B-F4120D14B4B0}" dt="2026-08-24T15:45:00.914" v="93" actId="1036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remme nivas" userId="8f4ec6e876cded2a" providerId="LiveId" clId="{39B59E1F-D3FE-4BC7-A50B-F4120D14B4B0}" dt="2026-08-19T03:26:04.891" v="21" actId="255"/>
        <pc:sldMkLst>
          <pc:docMk/>
          <pc:sldMk cId="0" sldId="260"/>
        </pc:sldMkLst>
        <pc:spChg chg="mod">
          <ac:chgData name="remme nivas" userId="8f4ec6e876cded2a" providerId="LiveId" clId="{39B59E1F-D3FE-4BC7-A50B-F4120D14B4B0}" dt="2026-08-19T03:25:24.981" v="17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5:34.682" v="18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5:44.964" v="19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5:53.883" v="20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6:04.891" v="21" actId="255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remme nivas" userId="8f4ec6e876cded2a" providerId="LiveId" clId="{39B59E1F-D3FE-4BC7-A50B-F4120D14B4B0}" dt="2026-08-19T03:27:16.889" v="29" actId="1035"/>
        <pc:sldMkLst>
          <pc:docMk/>
          <pc:sldMk cId="0" sldId="261"/>
        </pc:sldMkLst>
        <pc:spChg chg="mod">
          <ac:chgData name="remme nivas" userId="8f4ec6e876cded2a" providerId="LiveId" clId="{39B59E1F-D3FE-4BC7-A50B-F4120D14B4B0}" dt="2026-08-19T03:27:16.889" v="29" actId="103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emme nivas" userId="8f4ec6e876cded2a" providerId="LiveId" clId="{39B59E1F-D3FE-4BC7-A50B-F4120D14B4B0}" dt="2026-08-19T03:27:13.885" v="27" actId="255"/>
          <ac:spMkLst>
            <pc:docMk/>
            <pc:sldMk cId="0" sldId="261"/>
            <ac:spMk id="12" creationId="{00000000-0000-0000-0000-000000000000}"/>
          </ac:spMkLst>
        </pc:spChg>
        <pc:graphicFrameChg chg="modGraphic">
          <ac:chgData name="remme nivas" userId="8f4ec6e876cded2a" providerId="LiveId" clId="{39B59E1F-D3FE-4BC7-A50B-F4120D14B4B0}" dt="2026-08-19T03:26:41.327" v="25" actId="947"/>
          <ac:graphicFrameMkLst>
            <pc:docMk/>
            <pc:sldMk cId="0" sldId="261"/>
            <ac:graphicFrameMk id="8" creationId="{00000000-0000-0000-0000-000000000000}"/>
          </ac:graphicFrameMkLst>
        </pc:graphicFrameChg>
      </pc:sldChg>
      <pc:sldChg chg="modSp mod ord">
        <pc:chgData name="remme nivas" userId="8f4ec6e876cded2a" providerId="LiveId" clId="{39B59E1F-D3FE-4BC7-A50B-F4120D14B4B0}" dt="2026-08-24T15:53:43.537" v="99" actId="1076"/>
        <pc:sldMkLst>
          <pc:docMk/>
          <pc:sldMk cId="0" sldId="263"/>
        </pc:sldMkLst>
        <pc:spChg chg="mod">
          <ac:chgData name="remme nivas" userId="8f4ec6e876cded2a" providerId="LiveId" clId="{39B59E1F-D3FE-4BC7-A50B-F4120D14B4B0}" dt="2026-08-19T09:58:41.303" v="90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remme nivas" userId="8f4ec6e876cded2a" providerId="LiveId" clId="{39B59E1F-D3FE-4BC7-A50B-F4120D14B4B0}" dt="2026-08-24T15:53:10.903" v="96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remme nivas" userId="8f4ec6e876cded2a" providerId="LiveId" clId="{39B59E1F-D3FE-4BC7-A50B-F4120D14B4B0}" dt="2026-08-24T15:53:43.537" v="99" actId="1076"/>
          <ac:spMkLst>
            <pc:docMk/>
            <pc:sldMk cId="0" sldId="263"/>
            <ac:spMk id="11" creationId="{00000000-0000-0000-0000-000000000000}"/>
          </ac:spMkLst>
        </pc:spChg>
      </pc:sldChg>
    </pc:docChg>
  </pc:docChgLst>
  <pc:docChgLst>
    <pc:chgData name="Guest User" providerId="Windows Live" clId="Web-{D47B081D-66A5-9C39-E3CB-EC351C4B8109}"/>
    <pc:docChg chg="modSld">
      <pc:chgData name="Guest User" userId="" providerId="Windows Live" clId="Web-{D47B081D-66A5-9C39-E3CB-EC351C4B8109}" dt="2026-08-19T07:29:48.355" v="49"/>
      <pc:docMkLst>
        <pc:docMk/>
      </pc:docMkLst>
      <pc:sldChg chg="modSp">
        <pc:chgData name="Guest User" userId="" providerId="Windows Live" clId="Web-{D47B081D-66A5-9C39-E3CB-EC351C4B8109}" dt="2026-08-19T07:29:48.355" v="49"/>
        <pc:sldMkLst>
          <pc:docMk/>
          <pc:sldMk cId="0" sldId="257"/>
        </pc:sldMkLst>
        <pc:spChg chg="mod">
          <ac:chgData name="Guest User" userId="" providerId="Windows Live" clId="Web-{D47B081D-66A5-9C39-E3CB-EC351C4B8109}" dt="2026-08-19T07:29:07.056" v="48" actId="1076"/>
          <ac:spMkLst>
            <pc:docMk/>
            <pc:sldMk cId="0" sldId="257"/>
            <ac:spMk id="2" creationId="{00000000-0000-0000-0000-000000000000}"/>
          </ac:spMkLst>
        </pc:spChg>
        <pc:graphicFrameChg chg="mod modGraphic">
          <ac:chgData name="Guest User" userId="" providerId="Windows Live" clId="Web-{D47B081D-66A5-9C39-E3CB-EC351C4B8109}" dt="2026-08-19T07:29:48.355" v="49"/>
          <ac:graphicFrameMkLst>
            <pc:docMk/>
            <pc:sldMk cId="0" sldId="257"/>
            <ac:graphicFrameMk id="8" creationId="{00000000-0000-0000-0000-000000000000}"/>
          </ac:graphicFrameMkLst>
        </pc:graphicFrameChg>
      </pc:sldChg>
    </pc:docChg>
  </pc:docChgLst>
  <pc:docChgLst>
    <pc:chgData name="Guest User" providerId="Windows Live" clId="Web-{038A7D10-E69B-98D3-F6FD-98E7A5AFE121}"/>
    <pc:docChg chg="delSld modSld">
      <pc:chgData name="Guest User" userId="" providerId="Windows Live" clId="Web-{038A7D10-E69B-98D3-F6FD-98E7A5AFE121}" dt="2026-08-19T08:44:53.746" v="11"/>
      <pc:docMkLst>
        <pc:docMk/>
      </pc:docMkLst>
    </pc:docChg>
  </pc:docChgLst>
  <pc:docChgLst>
    <pc:chgData name="Guest User" providerId="Windows Live" clId="Web-{5C41A976-2057-0DD5-674E-1E6B7BFAFE46}"/>
    <pc:docChg chg="modSld">
      <pc:chgData name="Guest User" userId="" providerId="Windows Live" clId="Web-{5C41A976-2057-0DD5-674E-1E6B7BFAFE46}" dt="2026-08-19T09:55:00.258" v="44"/>
      <pc:docMkLst>
        <pc:docMk/>
      </pc:docMkLst>
      <pc:sldChg chg="modSp">
        <pc:chgData name="Guest User" userId="" providerId="Windows Live" clId="Web-{5C41A976-2057-0DD5-674E-1E6B7BFAFE46}" dt="2026-08-19T09:55:00.258" v="44"/>
        <pc:sldMkLst>
          <pc:docMk/>
          <pc:sldMk cId="0" sldId="257"/>
        </pc:sldMkLst>
        <pc:graphicFrameChg chg="mod modGraphic">
          <ac:chgData name="Guest User" userId="" providerId="Windows Live" clId="Web-{5C41A976-2057-0DD5-674E-1E6B7BFAFE46}" dt="2026-08-19T09:55:00.258" v="44"/>
          <ac:graphicFrameMkLst>
            <pc:docMk/>
            <pc:sldMk cId="0" sldId="257"/>
            <ac:graphicFrameMk id="8" creationId="{00000000-0000-0000-0000-000000000000}"/>
          </ac:graphicFrameMkLst>
        </pc:graphicFrameChg>
      </pc:sldChg>
      <pc:sldChg chg="modSp">
        <pc:chgData name="Guest User" userId="" providerId="Windows Live" clId="Web-{5C41A976-2057-0DD5-674E-1E6B7BFAFE46}" dt="2026-08-19T09:23:16.060" v="4" actId="1076"/>
        <pc:sldMkLst>
          <pc:docMk/>
          <pc:sldMk cId="0" sldId="259"/>
        </pc:sldMkLst>
        <pc:spChg chg="mod">
          <ac:chgData name="Guest User" userId="" providerId="Windows Live" clId="Web-{5C41A976-2057-0DD5-674E-1E6B7BFAFE46}" dt="2026-08-19T09:23:06.872" v="3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Guest User" userId="" providerId="Windows Live" clId="Web-{5C41A976-2057-0DD5-674E-1E6B7BFAFE46}" dt="2026-08-19T09:23:16.060" v="4" actId="1076"/>
          <ac:spMkLst>
            <pc:docMk/>
            <pc:sldMk cId="0" sldId="259"/>
            <ac:spMk id="11" creationId="{00000000-0000-0000-0000-000000000000}"/>
          </ac:spMkLst>
        </pc:spChg>
      </pc:sldChg>
    </pc:docChg>
  </pc:docChgLst>
  <pc:docChgLst>
    <pc:chgData name="Guest User" providerId="Windows Live" clId="Web-{7DDB05B2-E1DB-596E-E8A7-34161C9A762A}"/>
    <pc:docChg chg="modSld">
      <pc:chgData name="Guest User" userId="" providerId="Windows Live" clId="Web-{7DDB05B2-E1DB-596E-E8A7-34161C9A762A}" dt="2026-08-19T09:49:39.150" v="0" actId="1076"/>
      <pc:docMkLst>
        <pc:docMk/>
      </pc:docMkLst>
      <pc:sldChg chg="modSp">
        <pc:chgData name="Guest User" userId="" providerId="Windows Live" clId="Web-{7DDB05B2-E1DB-596E-E8A7-34161C9A762A}" dt="2026-08-19T09:49:39.150" v="0" actId="1076"/>
        <pc:sldMkLst>
          <pc:docMk/>
          <pc:sldMk cId="0" sldId="259"/>
        </pc:sldMkLst>
        <pc:spChg chg="mod">
          <ac:chgData name="Guest User" userId="" providerId="Windows Live" clId="Web-{7DDB05B2-E1DB-596E-E8A7-34161C9A762A}" dt="2026-08-19T09:49:39.150" v="0" actId="1076"/>
          <ac:spMkLst>
            <pc:docMk/>
            <pc:sldMk cId="0" sldId="259"/>
            <ac:spMk id="8" creationId="{00000000-0000-0000-0000-000000000000}"/>
          </ac:spMkLst>
        </pc:spChg>
      </pc:sldChg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08-19T07:58:40.565" v="1" actId="20577"/>
      <pc:docMkLst>
        <pc:docMk/>
      </pc:docMkLst>
    </pc:docChg>
  </pc:docChgLst>
  <pc:docChgLst>
    <pc:chgData name="Guest User" providerId="Windows Live" clId="Web-{2E73F24C-B559-6079-0F71-9B49E55DE1CA}"/>
    <pc:docChg chg="modSld">
      <pc:chgData name="Guest User" userId="" providerId="Windows Live" clId="Web-{2E73F24C-B559-6079-0F71-9B49E55DE1CA}" dt="2026-08-19T08:40:51.854" v="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178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Synthesize literature — not a paper list. Each row shows what prior work solves, where it falls short, and how our project addresses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20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6C6DA"/>
                </a:solidFill>
                <a:latin typeface="Calibri"/>
              </a:rPr>
              <a:t>AI-Ready Social Media Database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7200" y="228600"/>
            <a:ext cx="47000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6C6DA"/>
                </a:solidFill>
                <a:latin typeface="Calibri"/>
              </a:rPr>
              <a:t>0</a:t>
            </a:r>
            <a:r>
              <a:rPr lang="en-IN" sz="2200" b="1">
                <a:solidFill>
                  <a:srgbClr val="26C6DA"/>
                </a:solidFill>
                <a:latin typeface="Calibri"/>
              </a:rPr>
              <a:t>1</a:t>
            </a:r>
            <a:endParaRPr sz="2200" b="1">
              <a:solidFill>
                <a:srgbClr val="26C6D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A7A"/>
                </a:solidFill>
                <a:latin typeface="Calibri"/>
              </a:rPr>
              <a:t>AI-Ready Social Media DBMS | DEDB Project Review 2 | Academic Year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00000"/>
            <a:ext cx="5600000" cy="51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00" y="1315617"/>
            <a:ext cx="5240000" cy="363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B1F3A"/>
                </a:solidFill>
                <a:latin typeface="Calibri"/>
              </a:rPr>
              <a:t>Project Overview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600" b="0" dirty="0">
                <a:solidFill>
                  <a:srgbClr val="1A1A2E"/>
                </a:solidFill>
                <a:latin typeface="Calibri"/>
              </a:rPr>
              <a:t>Social media platforms generate massive amounts of interconnected data such as users, posts, comments, likes, messages, and media. Our project develops a scalable and normalized Social Media Database Management System to efficiently manage this data while maintaining consistency, integrity, performance, and security.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600" b="0" dirty="0">
                <a:solidFill>
                  <a:srgbClr val="1A1A2E"/>
                </a:solidFill>
                <a:latin typeface="Calibri"/>
              </a:rPr>
              <a:t>The system uses </a:t>
            </a:r>
            <a:r>
              <a:rPr sz="1600" b="1" dirty="0">
                <a:solidFill>
                  <a:srgbClr val="0B1F3A"/>
                </a:solidFill>
                <a:latin typeface="Calibri"/>
              </a:rPr>
              <a:t>PostgreSQL</a:t>
            </a:r>
            <a:r>
              <a:rPr sz="1600" b="0" dirty="0">
                <a:solidFill>
                  <a:srgbClr val="1A1A2E"/>
                </a:solidFill>
                <a:latin typeface="Calibri"/>
              </a:rPr>
              <a:t> as the primary relational database, </a:t>
            </a:r>
            <a:r>
              <a:rPr sz="1600" b="1" dirty="0">
                <a:solidFill>
                  <a:srgbClr val="0B1F3A"/>
                </a:solidFill>
                <a:latin typeface="Calibri"/>
              </a:rPr>
              <a:t>Redis</a:t>
            </a:r>
            <a:r>
              <a:rPr sz="1600" b="0" dirty="0">
                <a:solidFill>
                  <a:srgbClr val="1A1A2E"/>
                </a:solidFill>
                <a:latin typeface="Calibri"/>
              </a:rPr>
              <a:t> for caching, and </a:t>
            </a:r>
            <a:r>
              <a:rPr sz="1600" b="1" dirty="0" err="1">
                <a:solidFill>
                  <a:srgbClr val="0B1F3A"/>
                </a:solidFill>
                <a:latin typeface="Calibri"/>
              </a:rPr>
              <a:t>MinIO</a:t>
            </a:r>
            <a:r>
              <a:rPr sz="1600" b="1" dirty="0">
                <a:solidFill>
                  <a:srgbClr val="0B1F3A"/>
                </a:solidFill>
                <a:latin typeface="Calibri"/>
              </a:rPr>
              <a:t>/S3</a:t>
            </a:r>
            <a:r>
              <a:rPr sz="1600" b="0" dirty="0">
                <a:solidFill>
                  <a:srgbClr val="1A1A2E"/>
                </a:solidFill>
                <a:latin typeface="Calibri"/>
              </a:rPr>
              <a:t> for media storage. The database follows </a:t>
            </a:r>
            <a:r>
              <a:rPr sz="1600" b="1" dirty="0">
                <a:solidFill>
                  <a:srgbClr val="0B1F3A"/>
                </a:solidFill>
                <a:latin typeface="Calibri"/>
              </a:rPr>
              <a:t>3NF principles</a:t>
            </a:r>
            <a:r>
              <a:rPr sz="1600" b="0" dirty="0">
                <a:solidFill>
                  <a:srgbClr val="1A1A2E"/>
                </a:solidFill>
                <a:latin typeface="Calibri"/>
              </a:rPr>
              <a:t> to reduce redundancy and maintain data integrity, while the architecture is designed to support future AI-based semantic search and recommendation capabilities.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0000" y="1100000"/>
            <a:ext cx="5600000" cy="5100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0000" y="1339511"/>
            <a:ext cx="524000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B1F3A"/>
                </a:solidFill>
                <a:latin typeface="Calibri"/>
              </a:rPr>
              <a:t>Team Members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400" b="0" dirty="0">
                <a:solidFill>
                  <a:srgbClr val="009688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Remme Nivas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 —  ID: 2510030125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400" b="0" dirty="0">
                <a:solidFill>
                  <a:srgbClr val="009688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G. Abhi Chandra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 —  ID: 2510030328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400" b="0" dirty="0">
                <a:solidFill>
                  <a:srgbClr val="009688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N. Jashwanth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 —  ID: 2510030409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400" b="0" dirty="0">
                <a:solidFill>
                  <a:srgbClr val="009688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V. Karthik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 —  ID: 2510030381</a:t>
            </a:r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sz="1400" b="1" dirty="0">
                <a:solidFill>
                  <a:srgbClr val="0B1F3A"/>
                </a:solidFill>
                <a:latin typeface="Calibri"/>
              </a:rPr>
              <a:t>Supervisor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Dr. P. Lalitha Surya Kumari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400" b="1" dirty="0">
                <a:solidFill>
                  <a:srgbClr val="0B1F3A"/>
                </a:solidFill>
                <a:latin typeface="Calibri"/>
              </a:rPr>
              <a:t>Course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Database Engineering &amp; Distributed Backend Development (DEDB)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400" b="1" dirty="0">
                <a:solidFill>
                  <a:srgbClr val="0B1F3A"/>
                </a:solidFill>
                <a:latin typeface="Calibri"/>
              </a:rPr>
              <a:t>Academic Year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095" y="36286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6C6DA"/>
                </a:solidFill>
                <a:latin typeface="Calibri"/>
              </a:rPr>
              <a:t>Existing Research → Solution → Limitation → Our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6C6DA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A7A"/>
                </a:solidFill>
                <a:latin typeface="Calibri"/>
              </a:rPr>
              <a:t>AI-Ready Social Media DBMS | DEDB Project Review 2 | Academic Year 2026–2027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593609"/>
              </p:ext>
            </p:extLst>
          </p:nvPr>
        </p:nvGraphicFramePr>
        <p:xfrm>
          <a:off x="157238" y="1136952"/>
          <a:ext cx="11579883" cy="4754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9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0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13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baseline="0">
                          <a:solidFill>
                            <a:srgbClr val="FFFFFF"/>
                          </a:solidFill>
                          <a:latin typeface="Calibri"/>
                        </a:rPr>
                        <a:t>Research Area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baseline="0">
                          <a:solidFill>
                            <a:srgbClr val="FFFFFF"/>
                          </a:solidFill>
                          <a:latin typeface="Calibri"/>
                        </a:rPr>
                        <a:t>Existing Approach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baseline="0">
                          <a:solidFill>
                            <a:srgbClr val="FFFFFF"/>
                          </a:solidFill>
                          <a:latin typeface="Calibri"/>
                        </a:rPr>
                        <a:t>Key Limitation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baseline="0">
                          <a:solidFill>
                            <a:srgbClr val="FFFFFF"/>
                          </a:solidFill>
                          <a:latin typeface="Calibri"/>
                        </a:rPr>
                        <a:t>Our Project Contribution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8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Relational DB Design &amp; Normalization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(Silberschatz et al.; Elmasri &amp; Navathe)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3NF/BCNF eliminates redundancy; PK/FK enforce integrity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Textbook models rarely address social-media scale &amp; multimedia decoupling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14-table 3NF PostgreSQL schema with cascade constraints for social entities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0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Distributed Databases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(PostgreSQL replication docs)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Read replicas &amp; sharding improve throughput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Cross-node consistency &amp; failover remain operationally complex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Nginx + Node/Express with Redis cache &amp; PostgreSQL read-scaling design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0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Social-Network 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Relational</a:t>
                      </a: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 FK graphs model followers, posts, likes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Deep multi-hop graph queries become expensive in pure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Relational core + identified future hybrid/graph extension (Neo4j-class)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0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Caching &amp; Scalability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(Redis documentation)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In-memory cache reduces DB read load for hot keys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Cache invalidation &amp; consistency under write bursts need careful design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Redis for sessions, like counters &amp; follower-list caching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0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Multimedia / Object Storage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(MinIO / AWS S3)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Object stores offload binary blobs from RDBMS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Metadata–asset sync &amp; URL integrity must be 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 err="1">
                          <a:solidFill>
                            <a:srgbClr val="1A1A2E"/>
                          </a:solidFill>
                          <a:latin typeface="Calibri"/>
                        </a:rPr>
                        <a:t>MinIO</a:t>
                      </a: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/S3 for media; PostgreSQL stores reference URLs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5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AI / Vector Recommendations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(pgvector extension docs)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Embedding indexes enable semantic similarity search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Model training, bias evaluation &amp; accuracy benchmarking are non-trivial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 err="1">
                          <a:solidFill>
                            <a:srgbClr val="1A1A2E"/>
                          </a:solidFill>
                          <a:latin typeface="Calibri"/>
                        </a:rPr>
                        <a:t>PgVector</a:t>
                      </a: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 identified as future enhancement — not yet fully implemented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Critical Analysis &amp; Research Gap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6C6DA"/>
                </a:solidFill>
                <a:latin typeface="Calibri"/>
              </a:rPr>
              <a:t>Existing System → Problem → Gap → 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6C6DA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A7A"/>
                </a:solidFill>
                <a:latin typeface="Calibri"/>
              </a:rPr>
              <a:t>AI-Ready Social Media DBMS | DEDB Project Review 2 | Academic Year 2026–2027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799674"/>
              </p:ext>
            </p:extLst>
          </p:nvPr>
        </p:nvGraphicFramePr>
        <p:xfrm>
          <a:off x="320040" y="1097280"/>
          <a:ext cx="11338561" cy="3429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5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68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baseline="0">
                          <a:solidFill>
                            <a:srgbClr val="FFFFFF"/>
                          </a:solidFill>
                          <a:latin typeface="Calibri"/>
                        </a:rPr>
                        <a:t>Existing System / Research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baseline="0">
                          <a:solidFill>
                            <a:srgbClr val="FFFFFF"/>
                          </a:solidFill>
                          <a:latin typeface="Calibri"/>
                        </a:rPr>
                        <a:t>Problem Identified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baseline="0">
                          <a:solidFill>
                            <a:srgbClr val="FFFFFF"/>
                          </a:solidFill>
                          <a:latin typeface="Calibri"/>
                        </a:rPr>
                        <a:t>Research Gap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baseline="0">
                          <a:solidFill>
                            <a:srgbClr val="FFFFFF"/>
                          </a:solidFill>
                          <a:latin typeface="Calibri"/>
                        </a:rPr>
                        <a:t>Our Approach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Denormalized monolithic DB schemas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Data redundancy &amp; update anomalies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No unified 3NF social schema with full entity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14 core tables (Users→Reports) in PostgreSQL with PK/FK cascades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Single-node read/write DB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Concurrency locks under high load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Read scaling without sacrificing ACID writes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Redis caching + distributed read-replica architecture (target)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DB-stored multimedia blobs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Storage bloat &amp; slow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Decoupled binary storage with relational metadata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MinIO/S3 object store + URL references in Posts/Media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Basic credential storage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Injection &amp; cross-user leak risks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Integrated security at DB + API layers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JWT auth, </a:t>
                      </a:r>
                      <a:r>
                        <a:rPr sz="1000" b="0" baseline="0" err="1">
                          <a:solidFill>
                            <a:srgbClr val="1A1A2E"/>
                          </a:solidFill>
                          <a:latin typeface="Calibri"/>
                        </a:rPr>
                        <a:t>bcrypt</a:t>
                      </a: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 hashing, DB constraints &amp; audit triggers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8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Keyword-only content 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Poor personalization at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AI-ready semantic recommendation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baseline="0" err="1">
                          <a:solidFill>
                            <a:srgbClr val="1A1A2E"/>
                          </a:solidFill>
                          <a:latin typeface="Calibri"/>
                        </a:rPr>
                        <a:t>PgVector</a:t>
                      </a:r>
                      <a:r>
                        <a:rPr sz="1000" b="0" baseline="0">
                          <a:solidFill>
                            <a:srgbClr val="1A1A2E"/>
                          </a:solidFill>
                          <a:latin typeface="Calibri"/>
                        </a:rPr>
                        <a:t> extension planned — current scope is schema-ready, not model-validated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20040" y="4617720"/>
            <a:ext cx="11567160" cy="1600200"/>
          </a:xfrm>
          <a:prstGeom prst="roundRect">
            <a:avLst/>
          </a:prstGeom>
          <a:solidFill>
            <a:srgbClr val="FFF3E0"/>
          </a:solidFill>
          <a:ln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11155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Calibri"/>
              </a:rPr>
              <a:t>Research Gaps &amp; Current Project Limitations (Preview)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1A1A2E"/>
                </a:solidFill>
                <a:latin typeface="Calibri"/>
              </a:rPr>
              <a:t>• Literature shows strong foundations in normalization, caching, and object storage — but gaps remain in AI validation, large-scale benchmarking, graph-query efficiency, and security auditing.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1A1A2E"/>
                </a:solidFill>
                <a:latin typeface="Calibri"/>
              </a:rPr>
              <a:t>• Our project addresses the schema/architecture gap; Slide 6 details limitations still present in the current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Proposed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6C6DA"/>
                </a:solidFill>
                <a:latin typeface="Calibri"/>
              </a:rPr>
              <a:t>Client → Nginx → Node/Express → Redis / PostgreSQL → MinIO/S3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6C6DA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A7A"/>
                </a:solidFill>
                <a:latin typeface="Calibri"/>
              </a:rPr>
              <a:t>AI-Ready Social Media DBMS | DEDB Project Review 2 | Academic Year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799" y="1247489"/>
            <a:ext cx="3566160" cy="2286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3291840" cy="9079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err="1">
                <a:solidFill>
                  <a:srgbClr val="1A1A2E"/>
                </a:solidFill>
                <a:latin typeface="Calibri"/>
              </a:rPr>
              <a:t>dMobile</a:t>
            </a:r>
            <a:r>
              <a:rPr sz="1600" b="0">
                <a:solidFill>
                  <a:srgbClr val="1A1A2E"/>
                </a:solidFill>
                <a:latin typeface="Calibri"/>
              </a:rPr>
              <a:t> App (React Native)</a:t>
            </a:r>
            <a:endParaRPr lang="en-US"/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Web Portal (Next.js)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Admin Panel (Vue)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234440"/>
            <a:ext cx="3566160" cy="22860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8995" y="1325880"/>
            <a:ext cx="329184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688"/>
                </a:solidFill>
                <a:latin typeface="Calibri"/>
              </a:rPr>
              <a:t>MIDDLEWARE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Nginx Load Balancer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Node.js / Express REST+WS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JWT Security Guard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34440"/>
            <a:ext cx="3566160" cy="2286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325880"/>
            <a:ext cx="329184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AE60"/>
                </a:solidFill>
                <a:latin typeface="Calibri"/>
              </a:rPr>
              <a:t>DATA TIER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Redis — sessions, counters, graph cache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PostgreSQL — 3NF ACID core (14 tables)</a:t>
            </a:r>
          </a:p>
          <a:p>
            <a:pPr>
              <a:spcBef>
                <a:spcPts val="300"/>
              </a:spcBef>
            </a:pPr>
            <a:r>
              <a:rPr sz="1600" b="0" err="1">
                <a:solidFill>
                  <a:srgbClr val="1A1A2E"/>
                </a:solidFill>
                <a:latin typeface="Calibri"/>
              </a:rPr>
              <a:t>MinIO</a:t>
            </a:r>
            <a:r>
              <a:rPr sz="1600" b="0">
                <a:solidFill>
                  <a:srgbClr val="1A1A2E"/>
                </a:solidFill>
                <a:latin typeface="Calibri"/>
              </a:rPr>
              <a:t> / AWS S3 — images, video, logs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17620" y="2212848"/>
            <a:ext cx="502920" cy="32004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620002" y="2226564"/>
            <a:ext cx="502920" cy="32004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291" y="3639979"/>
            <a:ext cx="11475720" cy="2331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913632"/>
            <a:ext cx="112014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B1F3A"/>
                </a:solidFill>
                <a:latin typeface="Calibri"/>
              </a:rPr>
              <a:t>Design Principles &amp; Security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3NF normalization — eliminates transitive dependencies &amp; update anomalies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ACID transactions — PostgreSQL ensures atomic writes for posts, likes, messages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PK/FK constraints — cascade deletes prevent orphan records across 14 tables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Caching — Redis offloads hot reads (feeds, follower lists, like counts)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Distributed read scaling — replica nodes balance read traffic (architectural target)</a:t>
            </a:r>
          </a:p>
          <a:p>
            <a:pPr>
              <a:spcBef>
                <a:spcPts val="3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Security — JWT token validation,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bcrypt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password hashing, encrypted Messages (BYTEA)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A7A"/>
                </a:solidFill>
                <a:latin typeface="Calibri"/>
              </a:rPr>
              <a:t>Dataflow: HTTPS/WebSocket requests → Nginx → Express API → PostgreSQL (metadata) + MinIO (binaries) + Redis (cache)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Database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6C6DA"/>
                </a:solidFill>
                <a:latin typeface="Calibri"/>
              </a:rPr>
              <a:t>ER Model · 14 Tables · Normalization · SQL · DFD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6C6DA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A7A"/>
                </a:solidFill>
                <a:latin typeface="Calibri"/>
              </a:rPr>
              <a:t>AI-Ready Social Media DBMS | DEDB Project Review 2 | Academic Year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274320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4688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9688"/>
                </a:solidFill>
                <a:latin typeface="Calibri"/>
              </a:rPr>
              <a:t>14 Core Relational Tables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Users · Posts · Comments · Likes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Followers · Messages · Notifications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Media · Groups · Stories · Reels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Hashtags · Bookmarks ·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097280"/>
            <a:ext cx="274320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188720"/>
            <a:ext cx="24688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9688"/>
                </a:solidFill>
                <a:latin typeface="Calibri"/>
              </a:rPr>
              <a:t>ER Relationships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Users → Posts (1:N)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Posts → Comments (1:N)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Users ↔ Followers (N:M)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PK/FK mapped with ON DELETE CASCADE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097280"/>
            <a:ext cx="274320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188720"/>
            <a:ext cx="246888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9688"/>
                </a:solidFill>
                <a:latin typeface="Calibri"/>
              </a:rPr>
              <a:t>Normalization Pipeline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1NF — atomic values, unique PKs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2NF — no partial dependencies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3NF — no transitive dependencies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BCNF — </a:t>
            </a:r>
            <a:r>
              <a:rPr sz="1400" b="0" err="1">
                <a:solidFill>
                  <a:srgbClr val="1A1A2E"/>
                </a:solidFill>
                <a:latin typeface="Calibri"/>
              </a:rPr>
              <a:t>superkey</a:t>
            </a:r>
            <a:r>
              <a:rPr sz="1400" b="0">
                <a:solidFill>
                  <a:srgbClr val="1A1A2E"/>
                </a:solidFill>
                <a:latin typeface="Calibri"/>
              </a:rPr>
              <a:t> dependencies 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097280"/>
            <a:ext cx="306324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188720"/>
            <a:ext cx="2788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9688"/>
                </a:solidFill>
                <a:latin typeface="Calibri"/>
              </a:rPr>
              <a:t>DFD Workflow (L0/L1)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L0: User/Admin ↔ Social Media DBMS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1.0 Authenticate (Users/</a:t>
            </a:r>
            <a:r>
              <a:rPr sz="1400" b="0" err="1">
                <a:solidFill>
                  <a:srgbClr val="1A1A2E"/>
                </a:solidFill>
                <a:latin typeface="Calibri"/>
              </a:rPr>
              <a:t>bcrypt</a:t>
            </a:r>
            <a:r>
              <a:rPr sz="1400" b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2.0 Content → </a:t>
            </a:r>
            <a:r>
              <a:rPr sz="1400" b="0" err="1">
                <a:solidFill>
                  <a:srgbClr val="1A1A2E"/>
                </a:solidFill>
                <a:latin typeface="Calibri"/>
              </a:rPr>
              <a:t>MinIO</a:t>
            </a:r>
            <a:r>
              <a:rPr sz="1400" b="0">
                <a:solidFill>
                  <a:srgbClr val="1A1A2E"/>
                </a:solidFill>
                <a:latin typeface="Calibri"/>
              </a:rPr>
              <a:t> + Posts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3.0 Messages (WebSocket) · 4.0 Notifications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657600"/>
            <a:ext cx="11567160" cy="24231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112471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>
                <a:solidFill>
                  <a:srgbClr val="26C6DA"/>
                </a:solidFill>
                <a:latin typeface="Consolas"/>
              </a:rPr>
              <a:t>SQL Query Example — Chronological Feed with Like Aggregation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SELECT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p.post_id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p.content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u.email</a:t>
            </a:r>
            <a:r>
              <a:rPr sz="1400" b="0">
                <a:solidFill>
                  <a:srgbClr val="FFFFFF"/>
                </a:solidFill>
                <a:latin typeface="Consolas"/>
              </a:rPr>
              <a:t>, COUNT(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l.like_id</a:t>
            </a:r>
            <a:r>
              <a:rPr sz="1400" b="0">
                <a:solidFill>
                  <a:srgbClr val="FFFFFF"/>
                </a:solidFill>
                <a:latin typeface="Consolas"/>
              </a:rPr>
              <a:t>) AS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total_likes</a:t>
            </a:r>
            <a:endParaRPr sz="1400" b="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FROM Posts p INNER JOIN Users u ON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p.author_id</a:t>
            </a:r>
            <a:r>
              <a:rPr sz="1400" b="0">
                <a:solidFill>
                  <a:srgbClr val="FFFFFF"/>
                </a:solidFill>
                <a:latin typeface="Consolas"/>
              </a:rPr>
              <a:t> =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u.user_id</a:t>
            </a:r>
            <a:endParaRPr sz="1400" b="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LEFT JOIN Likes l ON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p.post_id</a:t>
            </a:r>
            <a:r>
              <a:rPr sz="1400" b="0">
                <a:solidFill>
                  <a:srgbClr val="FFFFFF"/>
                </a:solidFill>
                <a:latin typeface="Consolas"/>
              </a:rPr>
              <a:t> =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l.post_id</a:t>
            </a:r>
            <a:endParaRPr sz="1400" b="0">
              <a:solidFill>
                <a:srgbClr val="FFFFFF"/>
              </a:solidFill>
              <a:latin typeface="Consolas"/>
            </a:endParaRP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Consolas"/>
              </a:rPr>
              <a:t>GROUP BY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p.post_id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u.email</a:t>
            </a:r>
            <a:r>
              <a:rPr sz="1400" b="0">
                <a:solidFill>
                  <a:srgbClr val="FFFFFF"/>
                </a:solidFill>
                <a:latin typeface="Consolas"/>
              </a:rPr>
              <a:t> ORDER BY </a:t>
            </a:r>
            <a:r>
              <a:rPr sz="1400" b="0" err="1">
                <a:solidFill>
                  <a:srgbClr val="FFFFFF"/>
                </a:solidFill>
                <a:latin typeface="Consolas"/>
              </a:rPr>
              <a:t>p.created_at</a:t>
            </a:r>
            <a:r>
              <a:rPr sz="1400" b="0">
                <a:solidFill>
                  <a:srgbClr val="FFFFFF"/>
                </a:solidFill>
                <a:latin typeface="Consolas"/>
              </a:rPr>
              <a:t> DESC LIMIT 20;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A0B0C0"/>
                </a:solidFill>
                <a:latin typeface="Consolas"/>
              </a:rPr>
              <a:t>DDL: CREATE TABLE Posts (</a:t>
            </a:r>
            <a:r>
              <a:rPr sz="1400" b="0" err="1">
                <a:solidFill>
                  <a:srgbClr val="A0B0C0"/>
                </a:solidFill>
                <a:latin typeface="Consolas"/>
              </a:rPr>
              <a:t>post_id</a:t>
            </a:r>
            <a:r>
              <a:rPr sz="1400" b="0">
                <a:solidFill>
                  <a:srgbClr val="A0B0C0"/>
                </a:solidFill>
                <a:latin typeface="Consolas"/>
              </a:rPr>
              <a:t> SERIAL PRIMARY KEY, </a:t>
            </a:r>
            <a:r>
              <a:rPr sz="1400" b="0" err="1">
                <a:solidFill>
                  <a:srgbClr val="A0B0C0"/>
                </a:solidFill>
                <a:latin typeface="Consolas"/>
              </a:rPr>
              <a:t>author_id</a:t>
            </a:r>
            <a:r>
              <a:rPr sz="1400" b="0">
                <a:solidFill>
                  <a:srgbClr val="A0B0C0"/>
                </a:solidFill>
                <a:latin typeface="Consolas"/>
              </a:rPr>
              <a:t> INT REFERENCES Users(</a:t>
            </a:r>
            <a:r>
              <a:rPr sz="1400" b="0" err="1">
                <a:solidFill>
                  <a:srgbClr val="A0B0C0"/>
                </a:solidFill>
                <a:latin typeface="Consolas"/>
              </a:rPr>
              <a:t>user_id</a:t>
            </a:r>
            <a:r>
              <a:rPr sz="1400" b="0">
                <a:solidFill>
                  <a:srgbClr val="A0B0C0"/>
                </a:solidFill>
                <a:latin typeface="Consolas"/>
              </a:rPr>
              <a:t>) ON DELETE CASCADE, content TEXT);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Research Gaps &amp; Current Project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6C6DA"/>
                </a:solidFill>
                <a:latin typeface="Calibri"/>
              </a:rPr>
              <a:t>Limitation → Impact → Proposed Future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6C6DA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A7A"/>
                </a:solidFill>
                <a:latin typeface="Calibri"/>
              </a:rPr>
              <a:t>AI-Ready Social Media DBMS | DEDB Project Review 2 | Academic Year 2026–2027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501832"/>
              </p:ext>
            </p:extLst>
          </p:nvPr>
        </p:nvGraphicFramePr>
        <p:xfrm>
          <a:off x="356616" y="1051560"/>
          <a:ext cx="11393424" cy="350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3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 baseline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 baseline="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 baseline="0">
                          <a:solidFill>
                            <a:srgbClr val="FFFFFF"/>
                          </a:solidFill>
                          <a:latin typeface="Calibri"/>
                        </a:rPr>
                        <a:t>Future Work / Research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AI Recommendation Not Fully 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PgVector planned; no trained/validated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Integrate embeddings + evaluate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No Large-Scale Performance Validation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Sub-100 ms is a target, not proven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Conduct realistic load &amp; benchmark testing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Social Graph Query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Multi-hop follower queries costly in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Investigate hybrid/graph database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Scalability Needs Practical Validation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Millions-of-users scale not demonstrated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Benchmark replication, sharding &amp; failover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Limited Security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No full penetration or privacy audit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Complete security &amp; access-control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AI / Data Quality Limitation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Noisy/biased user data not evaluated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Study recommendation bias &amp; content quality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Real-Time Processing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Kafka/event streaming is future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Implement large-scale event ingestion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8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Failure Recovery / High Availability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DR &amp; auto-failover not yet tested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 baseline="0">
                          <a:solidFill>
                            <a:srgbClr val="1A1A2E"/>
                          </a:solidFill>
                          <a:latin typeface="Calibri"/>
                        </a:rPr>
                        <a:t>Demonstrate recovery-time &amp; HA failover</a:t>
                      </a:r>
                    </a:p>
                  </a:txBody>
                  <a:tcPr anchor="ctr">
                    <a:solidFill>
                      <a:srgbClr val="F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20040" y="4617720"/>
            <a:ext cx="5577840" cy="1691640"/>
          </a:xfrm>
          <a:prstGeom prst="roundRect">
            <a:avLst/>
          </a:prstGeom>
          <a:solidFill>
            <a:srgbClr val="E8F8F0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530352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Calibri"/>
              </a:rPr>
              <a:t>Future Scope</a:t>
            </a:r>
          </a:p>
          <a:p>
            <a:pPr>
              <a:spcBef>
                <a:spcPts val="300"/>
              </a:spcBef>
            </a:pPr>
            <a:r>
              <a:rPr sz="1400" b="0" err="1">
                <a:solidFill>
                  <a:srgbClr val="1A1A2E"/>
                </a:solidFill>
                <a:latin typeface="Calibri"/>
              </a:rPr>
              <a:t>PgVector</a:t>
            </a:r>
            <a:r>
              <a:rPr sz="1400" b="0">
                <a:solidFill>
                  <a:srgbClr val="1A1A2E"/>
                </a:solidFill>
                <a:latin typeface="Calibri"/>
              </a:rPr>
              <a:t> + AI content recommendations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Apache Kafka real-time event stream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Graph/hybrid DB for social traversals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Load testing &amp; HA/failover deployment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Comprehensive security &amp; penetration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617720"/>
            <a:ext cx="5852160" cy="1691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F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4709160"/>
            <a:ext cx="55778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1F3A"/>
                </a:solidFill>
                <a:latin typeface="Calibri"/>
              </a:rPr>
              <a:t>Conclusion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We designed a 3NF, 14-table PostgreSQL social-media DBMS with Redis caching,</a:t>
            </a:r>
          </a:p>
          <a:p>
            <a:pPr>
              <a:spcBef>
                <a:spcPts val="300"/>
              </a:spcBef>
            </a:pPr>
            <a:r>
              <a:rPr sz="1200" b="0" err="1">
                <a:solidFill>
                  <a:srgbClr val="1A1A2E"/>
                </a:solidFill>
                <a:latin typeface="Calibri"/>
              </a:rPr>
              <a:t>MinIO</a:t>
            </a:r>
            <a:r>
              <a:rPr sz="1200" b="0">
                <a:solidFill>
                  <a:srgbClr val="1A1A2E"/>
                </a:solidFill>
                <a:latin typeface="Calibri"/>
              </a:rPr>
              <a:t> object storage, and JWT-secured Node/Express API — addressing gaps in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normalization, decoupled storage &amp; distributed-read architecture.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1A1A2E"/>
                </a:solidFill>
                <a:latin typeface="Calibri"/>
              </a:rPr>
              <a:t>Identified limitations define a clear roadmap for Review 3 and beyond.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9688"/>
                </a:solidFill>
                <a:latin typeface="Calibri"/>
              </a:rPr>
              <a:t>Thank You — Questions &amp; Answers | Supervisor: Dr. P. Lalitha Surya Kumari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1429</Words>
  <Application>Microsoft Office PowerPoint</Application>
  <PresentationFormat>Widescreen</PresentationFormat>
  <Paragraphs>183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remme nivas</cp:lastModifiedBy>
  <cp:revision>1</cp:revision>
  <dcterms:created xsi:type="dcterms:W3CDTF">2013-01-27T09:14:16Z</dcterms:created>
  <dcterms:modified xsi:type="dcterms:W3CDTF">2026-08-24T15:53:43Z</dcterms:modified>
  <cp:category/>
</cp:coreProperties>
</file>